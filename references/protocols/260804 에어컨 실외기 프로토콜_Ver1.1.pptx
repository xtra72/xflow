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bookmarkIdSeed="3">
  <p:sldMasterIdLst>
    <p:sldMasterId id="2147483653" r:id="rId1"/>
  </p:sldMasterIdLst>
  <p:notesMasterIdLst>
    <p:notesMasterId r:id="rId36"/>
  </p:notesMasterIdLst>
  <p:sldIdLst>
    <p:sldId id="771" r:id="rId2"/>
    <p:sldId id="1180" r:id="rId3"/>
    <p:sldId id="1208" r:id="rId4"/>
    <p:sldId id="1172" r:id="rId5"/>
    <p:sldId id="1182" r:id="rId6"/>
    <p:sldId id="1184" r:id="rId7"/>
    <p:sldId id="1199" r:id="rId8"/>
    <p:sldId id="1090" r:id="rId9"/>
    <p:sldId id="1189" r:id="rId10"/>
    <p:sldId id="1200" r:id="rId11"/>
    <p:sldId id="1201" r:id="rId12"/>
    <p:sldId id="1202" r:id="rId13"/>
    <p:sldId id="1092" r:id="rId14"/>
    <p:sldId id="1188" r:id="rId15"/>
    <p:sldId id="1094" r:id="rId16"/>
    <p:sldId id="1095" r:id="rId17"/>
    <p:sldId id="1096" r:id="rId18"/>
    <p:sldId id="1097" r:id="rId19"/>
    <p:sldId id="1098" r:id="rId20"/>
    <p:sldId id="1203" r:id="rId21"/>
    <p:sldId id="1197" r:id="rId22"/>
    <p:sldId id="1204" r:id="rId23"/>
    <p:sldId id="1205" r:id="rId24"/>
    <p:sldId id="1206" r:id="rId25"/>
    <p:sldId id="1207" r:id="rId26"/>
    <p:sldId id="955" r:id="rId27"/>
    <p:sldId id="1190" r:id="rId28"/>
    <p:sldId id="1050" r:id="rId29"/>
    <p:sldId id="1183" r:id="rId30"/>
    <p:sldId id="1073" r:id="rId31"/>
    <p:sldId id="1113" r:id="rId32"/>
    <p:sldId id="1167" r:id="rId33"/>
    <p:sldId id="1114" r:id="rId34"/>
    <p:sldId id="1187" r:id="rId35"/>
  </p:sldIdLst>
  <p:sldSz cx="9906000" cy="6858000" type="A4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5pPr>
    <a:lvl6pPr marL="22860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6pPr>
    <a:lvl7pPr marL="27432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7pPr>
    <a:lvl8pPr marL="32004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8pPr>
    <a:lvl9pPr marL="3657600" algn="l" defTabSz="914400" rtl="0" eaLnBrk="1" latinLnBrk="1" hangingPunct="1">
      <a:defRPr sz="1200" b="1" kern="1200">
        <a:solidFill>
          <a:schemeClr val="tx1"/>
        </a:solidFill>
        <a:latin typeface="Arial" charset="0"/>
        <a:ea typeface="HY헤드라인M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천일현/Air Solution영업2(생활가전)/삼성전자" initials="천S" lastIdx="1" clrIdx="0">
    <p:extLst>
      <p:ext uri="{19B8F6BF-5375-455C-9EA6-DF929625EA0E}">
        <p15:presenceInfo xmlns:p15="http://schemas.microsoft.com/office/powerpoint/2012/main" userId="S-1-5-21-1569490900-2152479555-3239727262-95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2F2F2"/>
    <a:srgbClr val="0000CC"/>
    <a:srgbClr val="E1FFE1"/>
    <a:srgbClr val="00FF00"/>
    <a:srgbClr val="FF0000"/>
    <a:srgbClr val="D0EBB3"/>
    <a:srgbClr val="FF3F3F"/>
    <a:srgbClr val="25C12C"/>
    <a:srgbClr val="E089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69" autoAdjust="0"/>
    <p:restoredTop sz="96391" autoAdjust="0"/>
  </p:normalViewPr>
  <p:slideViewPr>
    <p:cSldViewPr>
      <p:cViewPr varScale="1">
        <p:scale>
          <a:sx n="116" d="100"/>
          <a:sy n="116" d="100"/>
        </p:scale>
        <p:origin x="1550" y="6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6" tIns="48038" rIns="96076" bIns="48038" numCol="1" anchor="t" anchorCtr="0" compatLnSpc="1">
            <a:prstTxWarp prst="textNoShape">
              <a:avLst/>
            </a:prstTxWarp>
          </a:bodyPr>
          <a:lstStyle>
            <a:lvl1pPr eaLnBrk="0" hangingPunct="0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6" tIns="48038" rIns="96076" bIns="4803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79463" y="768350"/>
            <a:ext cx="554037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6" tIns="48038" rIns="96076" bIns="48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6" tIns="48038" rIns="96076" bIns="48038" numCol="1" anchor="b" anchorCtr="0" compatLnSpc="1">
            <a:prstTxWarp prst="textNoShape">
              <a:avLst/>
            </a:prstTxWarp>
          </a:bodyPr>
          <a:lstStyle>
            <a:lvl1pPr eaLnBrk="0" hangingPunct="0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076" tIns="48038" rIns="96076" bIns="4803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F8C65D55-4288-4403-8C69-8FD0A9345B9E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235709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44474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970918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091258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81255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44967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9547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136456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192702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81761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044996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436125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345213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919969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0433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654915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870288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19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58742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48893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94220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976703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63633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399570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25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673363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26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2070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27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4816940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28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276555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29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15451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30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618985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39311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32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29638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33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704918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79463" y="768350"/>
            <a:ext cx="5540375" cy="38369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65D55-4288-4403-8C69-8FD0A9345B9E}" type="slidenum">
              <a:rPr lang="ko-KR" altLang="en-US" smtClean="0"/>
              <a:pPr>
                <a:defRPr/>
              </a:pPr>
              <a:t>34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954808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>
            <a:grpSpLocks/>
          </p:cNvGrpSpPr>
          <p:nvPr/>
        </p:nvGrpSpPr>
        <p:grpSpPr bwMode="auto">
          <a:xfrm>
            <a:off x="-5159" y="1"/>
            <a:ext cx="9911160" cy="6856413"/>
            <a:chOff x="-3" y="0"/>
            <a:chExt cx="5763" cy="4319"/>
          </a:xfrm>
        </p:grpSpPr>
        <p:sp>
          <p:nvSpPr>
            <p:cNvPr id="9" name="AutoShape 8"/>
            <p:cNvSpPr>
              <a:spLocks noChangeArrowheads="1"/>
            </p:cNvSpPr>
            <p:nvPr userDrawn="1"/>
          </p:nvSpPr>
          <p:spPr bwMode="gray">
            <a:xfrm>
              <a:off x="24" y="24"/>
              <a:ext cx="5712" cy="4272"/>
            </a:xfrm>
            <a:prstGeom prst="roundRect">
              <a:avLst>
                <a:gd name="adj" fmla="val 6227"/>
              </a:avLst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300" dirty="0">
                <a:ea typeface="+mn-ea"/>
              </a:endParaRPr>
            </a:p>
          </p:txBody>
        </p:sp>
        <p:sp>
          <p:nvSpPr>
            <p:cNvPr id="10" name="Freeform 9"/>
            <p:cNvSpPr>
              <a:spLocks/>
            </p:cNvSpPr>
            <p:nvPr userDrawn="1"/>
          </p:nvSpPr>
          <p:spPr bwMode="gray">
            <a:xfrm>
              <a:off x="0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00" dirty="0">
                <a:ea typeface="+mn-ea"/>
              </a:endParaRPr>
            </a:p>
          </p:txBody>
        </p:sp>
        <p:sp>
          <p:nvSpPr>
            <p:cNvPr id="11" name="Freeform 10"/>
            <p:cNvSpPr>
              <a:spLocks/>
            </p:cNvSpPr>
            <p:nvPr userDrawn="1"/>
          </p:nvSpPr>
          <p:spPr bwMode="gray">
            <a:xfrm rot="-5408600">
              <a:off x="-50" y="4030"/>
              <a:ext cx="336" cy="242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00" dirty="0">
                <a:ea typeface="+mn-ea"/>
              </a:endParaRPr>
            </a:p>
          </p:txBody>
        </p:sp>
        <p:sp>
          <p:nvSpPr>
            <p:cNvPr id="12" name="Freeform 11"/>
            <p:cNvSpPr>
              <a:spLocks/>
            </p:cNvSpPr>
            <p:nvPr userDrawn="1"/>
          </p:nvSpPr>
          <p:spPr bwMode="gray">
            <a:xfrm rot="10769190">
              <a:off x="5519" y="4031"/>
              <a:ext cx="232" cy="287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00" dirty="0">
                <a:ea typeface="+mn-ea"/>
              </a:endParaRPr>
            </a:p>
          </p:txBody>
        </p:sp>
        <p:sp>
          <p:nvSpPr>
            <p:cNvPr id="13" name="Freeform 12"/>
            <p:cNvSpPr>
              <a:spLocks/>
            </p:cNvSpPr>
            <p:nvPr userDrawn="1"/>
          </p:nvSpPr>
          <p:spPr bwMode="gray">
            <a:xfrm rot="5400000">
              <a:off x="5472" y="0"/>
              <a:ext cx="288" cy="288"/>
            </a:xfrm>
            <a:custGeom>
              <a:avLst/>
              <a:gdLst/>
              <a:ahLst/>
              <a:cxnLst>
                <a:cxn ang="0">
                  <a:pos x="0" y="48"/>
                </a:cxn>
                <a:cxn ang="0">
                  <a:pos x="0" y="384"/>
                </a:cxn>
                <a:cxn ang="0">
                  <a:pos x="96" y="192"/>
                </a:cxn>
                <a:cxn ang="0">
                  <a:pos x="192" y="48"/>
                </a:cxn>
                <a:cxn ang="0">
                  <a:pos x="336" y="0"/>
                </a:cxn>
                <a:cxn ang="0">
                  <a:pos x="0" y="0"/>
                </a:cxn>
              </a:cxnLst>
              <a:rect l="0" t="0" r="r" b="b"/>
              <a:pathLst>
                <a:path w="336" h="384">
                  <a:moveTo>
                    <a:pt x="0" y="48"/>
                  </a:moveTo>
                  <a:lnTo>
                    <a:pt x="0" y="384"/>
                  </a:lnTo>
                  <a:lnTo>
                    <a:pt x="96" y="192"/>
                  </a:lnTo>
                  <a:lnTo>
                    <a:pt x="192" y="48"/>
                  </a:lnTo>
                  <a:lnTo>
                    <a:pt x="336" y="0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ko-KR" altLang="en-US" sz="1300" dirty="0">
                <a:ea typeface="+mn-ea"/>
              </a:endParaRPr>
            </a:p>
          </p:txBody>
        </p:sp>
      </p:grpSp>
      <p:sp>
        <p:nvSpPr>
          <p:cNvPr id="87053" name="Rectangle 13"/>
          <p:cNvSpPr>
            <a:spLocks noGrp="1" noChangeArrowheads="1"/>
          </p:cNvSpPr>
          <p:nvPr>
            <p:ph type="ctrTitle"/>
          </p:nvPr>
        </p:nvSpPr>
        <p:spPr bwMode="ltGray">
          <a:xfrm>
            <a:off x="825500" y="990600"/>
            <a:ext cx="8420100" cy="1066800"/>
          </a:xfrm>
          <a:prstGeom prst="rect">
            <a:avLst/>
          </a:prstGeom>
        </p:spPr>
        <p:txBody>
          <a:bodyPr/>
          <a:lstStyle>
            <a:lvl1pPr algn="ctr">
              <a:defRPr sz="39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7054" name="Rectangle 14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4953000"/>
            <a:ext cx="6934200" cy="533400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3033"/>
            </a:lvl1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"/>
          <p:cNvSpPr>
            <a:spLocks noGrp="1"/>
          </p:cNvSpPr>
          <p:nvPr>
            <p:ph type="title"/>
          </p:nvPr>
        </p:nvSpPr>
        <p:spPr>
          <a:xfrm>
            <a:off x="0" y="2103438"/>
            <a:ext cx="9906000" cy="1325563"/>
          </a:xfrm>
          <a:prstGeom prst="rect">
            <a:avLst/>
          </a:prstGeom>
        </p:spPr>
        <p:txBody>
          <a:bodyPr anchor="ctr"/>
          <a:lstStyle>
            <a:lvl1pPr algn="ctr"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406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240154" y="194753"/>
            <a:ext cx="36327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dirty="0" smtClean="0">
                <a:solidFill>
                  <a:srgbClr val="0070C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</a:t>
            </a:r>
            <a:r>
              <a:rPr lang="en-US" altLang="ko-KR" sz="2400" dirty="0" smtClean="0">
                <a:solidFill>
                  <a:srgbClr val="0070C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R1/R2 RS485 </a:t>
            </a:r>
            <a:r>
              <a:rPr lang="ko-KR" altLang="en-US" sz="2400" dirty="0">
                <a:solidFill>
                  <a:srgbClr val="0070C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프로토콜</a:t>
            </a:r>
          </a:p>
        </p:txBody>
      </p:sp>
      <p:sp>
        <p:nvSpPr>
          <p:cNvPr id="4" name="슬라이드 번호 개체 틀 5"/>
          <p:cNvSpPr txBox="1">
            <a:spLocks/>
          </p:cNvSpPr>
          <p:nvPr userDrawn="1"/>
        </p:nvSpPr>
        <p:spPr>
          <a:xfrm>
            <a:off x="0" y="6597352"/>
            <a:ext cx="9906000" cy="203200"/>
          </a:xfrm>
          <a:prstGeom prst="rect">
            <a:avLst/>
          </a:prstGeom>
        </p:spPr>
        <p:txBody>
          <a:bodyPr vert="horz" lIns="99060" tIns="49530" rIns="99060" bIns="4953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A92B2CE3-3AE4-4E18-B5AD-8D43872882B2}" type="slidenum">
              <a:rPr lang="ko-KR" altLang="en-US" sz="110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pPr algn="r"/>
              <a:t>‹#›</a:t>
            </a:fld>
            <a:r>
              <a:rPr lang="en-US" altLang="ko-KR" sz="1100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/34</a:t>
            </a:r>
            <a:endParaRPr lang="ko-KR" altLang="en-US" sz="1100" dirty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cxnSp>
        <p:nvCxnSpPr>
          <p:cNvPr id="7" name="직선 연결선 6"/>
          <p:cNvCxnSpPr/>
          <p:nvPr userDrawn="1"/>
        </p:nvCxnSpPr>
        <p:spPr bwMode="auto">
          <a:xfrm>
            <a:off x="344488" y="620688"/>
            <a:ext cx="914501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6" r:id="rId1"/>
    <p:sldLayoutId id="2147483885" r:id="rId2"/>
    <p:sldLayoutId id="2147483888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5pPr>
      <a:lvl6pPr marL="495285" algn="l" rtl="0" fontAlgn="base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6pPr>
      <a:lvl7pPr marL="990570" algn="l" rtl="0" fontAlgn="base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7pPr>
      <a:lvl8pPr marL="1485854" algn="l" rtl="0" fontAlgn="base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8pPr>
      <a:lvl9pPr marL="1981139" algn="l" rtl="0" fontAlgn="base">
        <a:spcBef>
          <a:spcPct val="0"/>
        </a:spcBef>
        <a:spcAft>
          <a:spcPct val="0"/>
        </a:spcAft>
        <a:defRPr sz="3467">
          <a:solidFill>
            <a:schemeClr val="bg1"/>
          </a:solidFill>
          <a:latin typeface="HY헤드라인M" pitchFamily="18" charset="-127"/>
          <a:ea typeface="HY헤드라인M" pitchFamily="18" charset="-127"/>
        </a:defRPr>
      </a:lvl9pPr>
    </p:titleStyle>
    <p:bodyStyle>
      <a:lvl1pPr marL="371464" indent="-371464" algn="l" rtl="0" eaLnBrk="0" fontAlgn="base" hangingPunct="0">
        <a:spcBef>
          <a:spcPct val="20000"/>
        </a:spcBef>
        <a:spcAft>
          <a:spcPct val="0"/>
        </a:spcAft>
        <a:buBlip>
          <a:blip r:embed="rId5"/>
        </a:buBlip>
        <a:defRPr sz="3467">
          <a:solidFill>
            <a:schemeClr val="tx2"/>
          </a:solidFill>
          <a:latin typeface="+mn-lt"/>
          <a:ea typeface="+mn-ea"/>
          <a:cs typeface="+mn-cs"/>
        </a:defRPr>
      </a:lvl1pPr>
      <a:lvl2pPr marL="804838" indent="-309553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sz="3033">
          <a:solidFill>
            <a:schemeClr val="tx1"/>
          </a:solidFill>
          <a:latin typeface="+mn-lt"/>
          <a:ea typeface="+mn-ea"/>
        </a:defRPr>
      </a:lvl2pPr>
      <a:lvl3pPr marL="1238212" indent="-247642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600">
          <a:solidFill>
            <a:schemeClr val="tx1"/>
          </a:solidFill>
          <a:latin typeface="+mn-lt"/>
          <a:ea typeface="+mn-ea"/>
        </a:defRPr>
      </a:lvl3pPr>
      <a:lvl4pPr marL="1733497" indent="-247642" algn="l" rtl="0" eaLnBrk="0" fontAlgn="base" hangingPunct="0">
        <a:spcBef>
          <a:spcPct val="20000"/>
        </a:spcBef>
        <a:spcAft>
          <a:spcPct val="0"/>
        </a:spcAft>
        <a:buChar char="•"/>
        <a:defRPr sz="2167">
          <a:solidFill>
            <a:schemeClr val="tx1"/>
          </a:solidFill>
          <a:latin typeface="+mn-lt"/>
          <a:ea typeface="+mn-ea"/>
        </a:defRPr>
      </a:lvl4pPr>
      <a:lvl5pPr marL="2228781" indent="-247642" algn="l" rtl="0" eaLnBrk="0" fontAlgn="base" hangingPunct="0">
        <a:spcBef>
          <a:spcPct val="20000"/>
        </a:spcBef>
        <a:spcAft>
          <a:spcPct val="0"/>
        </a:spcAft>
        <a:buBlip>
          <a:blip r:embed="rId6"/>
        </a:buBlip>
        <a:defRPr sz="2167">
          <a:solidFill>
            <a:schemeClr val="tx1"/>
          </a:solidFill>
          <a:latin typeface="+mn-lt"/>
          <a:ea typeface="+mn-ea"/>
        </a:defRPr>
      </a:lvl5pPr>
      <a:lvl6pPr marL="2724066" indent="-247642" algn="l" rtl="0" fontAlgn="base">
        <a:spcBef>
          <a:spcPct val="20000"/>
        </a:spcBef>
        <a:spcAft>
          <a:spcPct val="0"/>
        </a:spcAft>
        <a:buBlip>
          <a:blip r:embed="rId6"/>
        </a:buBlip>
        <a:defRPr sz="2167">
          <a:solidFill>
            <a:schemeClr val="tx1"/>
          </a:solidFill>
          <a:latin typeface="+mn-lt"/>
          <a:ea typeface="+mn-ea"/>
        </a:defRPr>
      </a:lvl6pPr>
      <a:lvl7pPr marL="3219351" indent="-247642" algn="l" rtl="0" fontAlgn="base">
        <a:spcBef>
          <a:spcPct val="20000"/>
        </a:spcBef>
        <a:spcAft>
          <a:spcPct val="0"/>
        </a:spcAft>
        <a:buBlip>
          <a:blip r:embed="rId6"/>
        </a:buBlip>
        <a:defRPr sz="2167">
          <a:solidFill>
            <a:schemeClr val="tx1"/>
          </a:solidFill>
          <a:latin typeface="+mn-lt"/>
          <a:ea typeface="+mn-ea"/>
        </a:defRPr>
      </a:lvl7pPr>
      <a:lvl8pPr marL="3714636" indent="-247642" algn="l" rtl="0" fontAlgn="base">
        <a:spcBef>
          <a:spcPct val="20000"/>
        </a:spcBef>
        <a:spcAft>
          <a:spcPct val="0"/>
        </a:spcAft>
        <a:buBlip>
          <a:blip r:embed="rId6"/>
        </a:buBlip>
        <a:defRPr sz="2167">
          <a:solidFill>
            <a:schemeClr val="tx1"/>
          </a:solidFill>
          <a:latin typeface="+mn-lt"/>
          <a:ea typeface="+mn-ea"/>
        </a:defRPr>
      </a:lvl8pPr>
      <a:lvl9pPr marL="4209920" indent="-247642" algn="l" rtl="0" fontAlgn="base">
        <a:spcBef>
          <a:spcPct val="20000"/>
        </a:spcBef>
        <a:spcAft>
          <a:spcPct val="0"/>
        </a:spcAft>
        <a:buBlip>
          <a:blip r:embed="rId6"/>
        </a:buBlip>
        <a:defRPr sz="21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95285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90570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3pPr>
      <a:lvl4pPr marL="148585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4pPr>
      <a:lvl5pPr marL="198113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5pPr>
      <a:lvl6pPr marL="2476424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09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7pPr>
      <a:lvl8pPr marL="3466993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8pPr>
      <a:lvl9pPr marL="3962278" algn="l" defTabSz="990570" rtl="0" eaLnBrk="1" latinLnBrk="1" hangingPunct="1">
        <a:defRPr sz="19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1576431"/>
            <a:ext cx="9906000" cy="1689883"/>
          </a:xfrm>
          <a:noFill/>
        </p:spPr>
        <p:txBody>
          <a:bodyPr/>
          <a:lstStyle/>
          <a:p>
            <a:pPr eaLnBrk="1" hangingPunct="1"/>
            <a:r>
              <a:rPr lang="ko-KR" altLang="en-US" sz="4800" b="1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</a:t>
            </a:r>
            <a:r>
              <a:rPr lang="en-US" altLang="ko-KR" sz="4800" b="1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NASA </a:t>
            </a:r>
            <a:r>
              <a:rPr lang="ko-KR" altLang="en-US" sz="4800" b="1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프로토콜</a:t>
            </a:r>
            <a:r>
              <a:rPr lang="en-US" altLang="ko-KR" sz="4800" b="1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/>
            </a:r>
            <a:br>
              <a:rPr lang="en-US" altLang="ko-KR" sz="4800" b="1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</a:br>
            <a:r>
              <a:rPr lang="en-US" altLang="ko-KR" sz="4800" b="1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en-US" altLang="ko-KR" sz="4800" b="1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V1.1)</a:t>
            </a:r>
            <a:endParaRPr lang="en-US" altLang="ko-KR" sz="4800" b="1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0" y="5329797"/>
            <a:ext cx="9905999" cy="1002159"/>
          </a:xfrm>
        </p:spPr>
        <p:txBody>
          <a:bodyPr/>
          <a:lstStyle/>
          <a:p>
            <a:pPr eaLnBrk="1" hangingPunct="1"/>
            <a:r>
              <a:rPr lang="en-US" altLang="ko-KR" sz="2400" b="1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2026. 08</a:t>
            </a:r>
            <a:endParaRPr lang="en-US" altLang="ko-KR" sz="2400" b="1" dirty="0" smtClean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  <a:p>
            <a:pPr eaLnBrk="1" hangingPunct="1"/>
            <a:r>
              <a:rPr lang="ko-KR" altLang="en-US" sz="2400" b="1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삼성전자 </a:t>
            </a:r>
            <a:r>
              <a:rPr lang="en-US" altLang="ko-KR" sz="2400" b="1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DA</a:t>
            </a:r>
            <a:r>
              <a:rPr lang="ko-KR" altLang="en-US" sz="2400" b="1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사업부 </a:t>
            </a:r>
            <a:r>
              <a:rPr lang="en-US" altLang="ko-KR" sz="2400" b="1" dirty="0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HVAC</a:t>
            </a:r>
            <a:r>
              <a:rPr lang="ko-KR" altLang="en-US" sz="2400" b="1" dirty="0" err="1" smtClean="0"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사업팀</a:t>
            </a:r>
            <a:endParaRPr lang="ko-KR" altLang="en-US" sz="2400" b="1" dirty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272480" y="801974"/>
            <a:ext cx="1085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수정 이력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graphicFrame>
        <p:nvGraphicFramePr>
          <p:cNvPr id="65" name="표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2900303"/>
              </p:ext>
            </p:extLst>
          </p:nvPr>
        </p:nvGraphicFramePr>
        <p:xfrm>
          <a:off x="776536" y="1213832"/>
          <a:ext cx="8496944" cy="4937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20800">
                  <a:extLst>
                    <a:ext uri="{9D8B030D-6E8A-4147-A177-3AD203B41FA5}">
                      <a16:colId xmlns:a16="http://schemas.microsoft.com/office/drawing/2014/main" val="292369277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3848696197"/>
                    </a:ext>
                  </a:extLst>
                </a:gridCol>
                <a:gridCol w="3983136">
                  <a:extLst>
                    <a:ext uri="{9D8B030D-6E8A-4147-A177-3AD203B41FA5}">
                      <a16:colId xmlns:a16="http://schemas.microsoft.com/office/drawing/2014/main" val="708463217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2874319298"/>
                    </a:ext>
                  </a:extLst>
                </a:gridCol>
              </a:tblGrid>
              <a:tr h="1289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변경 날짜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버젼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내용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비고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9874285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2025.01.03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V1.0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프로토콜 신규 작성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6204852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2026.08.04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V1.1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습도값</a:t>
                      </a:r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모니터링 추가 </a:t>
                      </a: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(Page</a:t>
                      </a:r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29)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469574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2326336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Tx/>
                        <a:buNone/>
                      </a:pP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28008365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4692252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3117931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523002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7310132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609995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2060659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9153792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5211138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3281875"/>
                  </a:ext>
                </a:extLst>
              </a:tr>
              <a:tr h="12898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8491770"/>
                  </a:ext>
                </a:extLst>
              </a:tr>
              <a:tr h="197441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7449349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6564737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523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7317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타원 55"/>
          <p:cNvSpPr/>
          <p:nvPr/>
        </p:nvSpPr>
        <p:spPr>
          <a:xfrm>
            <a:off x="5283705" y="1429681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7" name="직선 연결선 46"/>
          <p:cNvCxnSpPr>
            <a:cxnSpLocks noChangeShapeType="1"/>
          </p:cNvCxnSpPr>
          <p:nvPr/>
        </p:nvCxnSpPr>
        <p:spPr bwMode="auto">
          <a:xfrm rot="10800000">
            <a:off x="5200433" y="2406058"/>
            <a:ext cx="3420394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3" name="직선 연결선 46"/>
          <p:cNvCxnSpPr>
            <a:cxnSpLocks noChangeShapeType="1"/>
          </p:cNvCxnSpPr>
          <p:nvPr/>
        </p:nvCxnSpPr>
        <p:spPr bwMode="auto">
          <a:xfrm flipH="1">
            <a:off x="5200433" y="3835596"/>
            <a:ext cx="3600815" cy="0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/>
          </a:ln>
        </p:spPr>
      </p:cxnSp>
      <p:cxnSp>
        <p:nvCxnSpPr>
          <p:cNvPr id="18" name="직선 연결선 17"/>
          <p:cNvCxnSpPr/>
          <p:nvPr/>
        </p:nvCxnSpPr>
        <p:spPr bwMode="auto">
          <a:xfrm flipV="1">
            <a:off x="2392193" y="2153179"/>
            <a:ext cx="2016060" cy="0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cxnSp>
        <p:nvCxnSpPr>
          <p:cNvPr id="20" name="직선 연결선 19"/>
          <p:cNvCxnSpPr/>
          <p:nvPr/>
        </p:nvCxnSpPr>
        <p:spPr bwMode="auto">
          <a:xfrm flipH="1" flipV="1">
            <a:off x="4406691" y="2156804"/>
            <a:ext cx="361644" cy="229234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cxnSp>
        <p:nvCxnSpPr>
          <p:cNvPr id="21" name="직선 연결선 20"/>
          <p:cNvCxnSpPr/>
          <p:nvPr/>
        </p:nvCxnSpPr>
        <p:spPr bwMode="auto">
          <a:xfrm flipH="1">
            <a:off x="4408253" y="2371749"/>
            <a:ext cx="360082" cy="233601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cxnSp>
        <p:nvCxnSpPr>
          <p:cNvPr id="27" name="직선 연결선 26"/>
          <p:cNvCxnSpPr/>
          <p:nvPr/>
        </p:nvCxnSpPr>
        <p:spPr bwMode="auto">
          <a:xfrm>
            <a:off x="4408252" y="2605350"/>
            <a:ext cx="0" cy="1139946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cxnSp>
        <p:nvCxnSpPr>
          <p:cNvPr id="29" name="직선 연결선 28"/>
          <p:cNvCxnSpPr/>
          <p:nvPr/>
        </p:nvCxnSpPr>
        <p:spPr bwMode="auto">
          <a:xfrm flipH="1" flipV="1">
            <a:off x="4406691" y="3745296"/>
            <a:ext cx="648146" cy="198358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sp>
        <p:nvSpPr>
          <p:cNvPr id="33" name="TextBox 32"/>
          <p:cNvSpPr txBox="1"/>
          <p:nvPr/>
        </p:nvSpPr>
        <p:spPr>
          <a:xfrm>
            <a:off x="2608570" y="1852307"/>
            <a:ext cx="1576072" cy="25898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</a:t>
            </a:r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-</a:t>
            </a:r>
            <a:r>
              <a:rPr lang="ko-KR" altLang="en-US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통신선</a:t>
            </a:r>
            <a:endParaRPr lang="en-US" altLang="ko-KR" sz="1083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50230" y="2131847"/>
            <a:ext cx="1194558" cy="25898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83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내부 통신선</a:t>
            </a:r>
            <a:endParaRPr lang="en-US" altLang="ko-KR" sz="1083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312726" y="1483567"/>
            <a:ext cx="292847" cy="242374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75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  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571823" y="1457629"/>
            <a:ext cx="1414170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579420" y="1457629"/>
            <a:ext cx="1334020" cy="292388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Logical address</a:t>
            </a:r>
          </a:p>
        </p:txBody>
      </p:sp>
      <p:cxnSp>
        <p:nvCxnSpPr>
          <p:cNvPr id="95" name="직선 연결선 94"/>
          <p:cNvCxnSpPr/>
          <p:nvPr/>
        </p:nvCxnSpPr>
        <p:spPr bwMode="auto">
          <a:xfrm flipH="1">
            <a:off x="4408253" y="3876547"/>
            <a:ext cx="360082" cy="233601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cxnSp>
        <p:nvCxnSpPr>
          <p:cNvPr id="96" name="직선 연결선 95"/>
          <p:cNvCxnSpPr/>
          <p:nvPr/>
        </p:nvCxnSpPr>
        <p:spPr bwMode="auto">
          <a:xfrm>
            <a:off x="4406683" y="4113902"/>
            <a:ext cx="0" cy="197793"/>
          </a:xfrm>
          <a:prstGeom prst="line">
            <a:avLst/>
          </a:prstGeom>
          <a:noFill/>
          <a:ln w="38100">
            <a:solidFill>
              <a:srgbClr val="0000CC"/>
            </a:solidFill>
            <a:round/>
            <a:headEnd/>
            <a:tailEnd/>
          </a:ln>
        </p:spPr>
      </p:cxnSp>
      <p:sp>
        <p:nvSpPr>
          <p:cNvPr id="90" name="TextBox 89"/>
          <p:cNvSpPr txBox="1"/>
          <p:nvPr/>
        </p:nvSpPr>
        <p:spPr>
          <a:xfrm>
            <a:off x="1095687" y="1412776"/>
            <a:ext cx="821059" cy="292388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6A EE FF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1105983" y="1777292"/>
            <a:ext cx="1438910" cy="742791"/>
          </a:xfrm>
          <a:prstGeom prst="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ko-KR" altLang="en-US" sz="1733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</a:t>
            </a:r>
            <a:endParaRPr lang="ko-KR" altLang="en-US" sz="1733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82" name="직선 연결선 81"/>
          <p:cNvCxnSpPr/>
          <p:nvPr/>
        </p:nvCxnSpPr>
        <p:spPr bwMode="auto">
          <a:xfrm>
            <a:off x="4406683" y="4233178"/>
            <a:ext cx="0" cy="307258"/>
          </a:xfrm>
          <a:prstGeom prst="line">
            <a:avLst/>
          </a:prstGeom>
          <a:noFill/>
          <a:ln w="38100">
            <a:solidFill>
              <a:srgbClr val="0000CC"/>
            </a:solidFill>
            <a:prstDash val="sysDot"/>
            <a:round/>
            <a:headEnd/>
            <a:tailEnd/>
          </a:ln>
        </p:spPr>
      </p:cxnSp>
      <p:sp>
        <p:nvSpPr>
          <p:cNvPr id="103" name="TextBox 102"/>
          <p:cNvSpPr txBox="1"/>
          <p:nvPr/>
        </p:nvSpPr>
        <p:spPr>
          <a:xfrm>
            <a:off x="836470" y="4618248"/>
            <a:ext cx="5834586" cy="170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실내외기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주소는 반드시 </a:t>
            </a:r>
            <a:r>
              <a:rPr lang="ko-KR" altLang="en-US" sz="1400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수동으로 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설정</a:t>
            </a:r>
            <a:endParaRPr lang="en-US" altLang="ko-KR" sz="1400" dirty="0" smtClean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외부제어기는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대만 연결 가능</a:t>
            </a:r>
            <a:endParaRPr lang="en-US" altLang="ko-KR" sz="1400" dirty="0" smtClean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외부제어기와 실외기 간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RS485 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통신선 연결 시 반드시 정극으로 연결</a:t>
            </a:r>
            <a:endParaRPr lang="en-US" altLang="ko-KR" sz="1400" dirty="0" smtClean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실외기는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최대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16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(16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개 냉매시스템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을 연결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,  </a:t>
            </a:r>
            <a:r>
              <a:rPr lang="ko-KR" altLang="en-US" sz="1400" dirty="0" err="1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실내기는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실외기 당 최대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64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</a:t>
            </a:r>
            <a:endParaRPr lang="en-US" altLang="ko-KR" sz="1400" dirty="0" smtClean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전체 실내기 대수는 </a:t>
            </a:r>
            <a:r>
              <a:rPr lang="en-US" altLang="ko-KR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16 * 64 = 1,024</a:t>
            </a:r>
            <a:r>
              <a:rPr lang="ko-KR" altLang="en-US" sz="140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대까지 설정 가능 </a:t>
            </a:r>
            <a:endParaRPr lang="ko-KR" altLang="en-US" sz="1400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pSp>
        <p:nvGrpSpPr>
          <p:cNvPr id="87" name="그룹 86"/>
          <p:cNvGrpSpPr/>
          <p:nvPr/>
        </p:nvGrpSpPr>
        <p:grpSpPr>
          <a:xfrm>
            <a:off x="8214274" y="2042789"/>
            <a:ext cx="698576" cy="697447"/>
            <a:chOff x="15611513" y="-6165834"/>
            <a:chExt cx="6858000" cy="6858000"/>
          </a:xfrm>
        </p:grpSpPr>
        <p:pic>
          <p:nvPicPr>
            <p:cNvPr id="88" name="그림 8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1513" y="-6165834"/>
              <a:ext cx="6858000" cy="6858000"/>
            </a:xfrm>
            <a:prstGeom prst="rect">
              <a:avLst/>
            </a:prstGeom>
          </p:spPr>
        </p:pic>
        <p:pic>
          <p:nvPicPr>
            <p:cNvPr id="89" name="그림 8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64760" y="-603448"/>
              <a:ext cx="1465805" cy="251114"/>
            </a:xfrm>
            <a:prstGeom prst="rect">
              <a:avLst/>
            </a:prstGeom>
          </p:spPr>
        </p:pic>
      </p:grpSp>
      <p:grpSp>
        <p:nvGrpSpPr>
          <p:cNvPr id="91" name="그룹 90"/>
          <p:cNvGrpSpPr/>
          <p:nvPr/>
        </p:nvGrpSpPr>
        <p:grpSpPr>
          <a:xfrm>
            <a:off x="6685217" y="2064224"/>
            <a:ext cx="679927" cy="681912"/>
            <a:chOff x="21841614" y="-1828163"/>
            <a:chExt cx="6524625" cy="6543675"/>
          </a:xfrm>
        </p:grpSpPr>
        <p:pic>
          <p:nvPicPr>
            <p:cNvPr id="92" name="그림 9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841614" y="-1828163"/>
              <a:ext cx="6524625" cy="6543675"/>
            </a:xfrm>
            <a:prstGeom prst="rect">
              <a:avLst/>
            </a:prstGeom>
          </p:spPr>
        </p:pic>
        <p:pic>
          <p:nvPicPr>
            <p:cNvPr id="93" name="그림 9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1022" y="-808868"/>
              <a:ext cx="1465809" cy="251110"/>
            </a:xfrm>
            <a:prstGeom prst="rect">
              <a:avLst/>
            </a:prstGeom>
          </p:spPr>
        </p:pic>
      </p:grpSp>
      <p:sp>
        <p:nvSpPr>
          <p:cNvPr id="126" name="TextBox 51"/>
          <p:cNvSpPr txBox="1">
            <a:spLocks noChangeArrowheads="1"/>
          </p:cNvSpPr>
          <p:nvPr/>
        </p:nvSpPr>
        <p:spPr bwMode="auto">
          <a:xfrm>
            <a:off x="6783784" y="2717603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6719399" y="2933627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</a:t>
            </a:r>
            <a:r>
              <a:rPr lang="en-US" altLang="ko-KR" sz="1083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</a:t>
            </a:r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00</a:t>
            </a:r>
          </a:p>
        </p:txBody>
      </p:sp>
      <p:sp>
        <p:nvSpPr>
          <p:cNvPr id="128" name="TextBox 51"/>
          <p:cNvSpPr txBox="1">
            <a:spLocks noChangeArrowheads="1"/>
          </p:cNvSpPr>
          <p:nvPr/>
        </p:nvSpPr>
        <p:spPr bwMode="auto">
          <a:xfrm>
            <a:off x="8329163" y="2711522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264778" y="2927546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</a:t>
            </a:r>
            <a:r>
              <a:rPr lang="en-US" altLang="ko-KR" sz="1083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</a:t>
            </a:r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</a:t>
            </a:r>
            <a:endParaRPr lang="en-US" altLang="ko-KR" sz="1083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pSp>
        <p:nvGrpSpPr>
          <p:cNvPr id="134" name="그룹 133"/>
          <p:cNvGrpSpPr/>
          <p:nvPr/>
        </p:nvGrpSpPr>
        <p:grpSpPr>
          <a:xfrm>
            <a:off x="8214274" y="3479542"/>
            <a:ext cx="698576" cy="697447"/>
            <a:chOff x="15611513" y="-6165834"/>
            <a:chExt cx="6858000" cy="6858000"/>
          </a:xfrm>
        </p:grpSpPr>
        <p:pic>
          <p:nvPicPr>
            <p:cNvPr id="135" name="그림 13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611513" y="-6165834"/>
              <a:ext cx="6858000" cy="6858000"/>
            </a:xfrm>
            <a:prstGeom prst="rect">
              <a:avLst/>
            </a:prstGeom>
          </p:spPr>
        </p:pic>
        <p:pic>
          <p:nvPicPr>
            <p:cNvPr id="136" name="그림 135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364760" y="-603448"/>
              <a:ext cx="1465805" cy="251114"/>
            </a:xfrm>
            <a:prstGeom prst="rect">
              <a:avLst/>
            </a:prstGeom>
          </p:spPr>
        </p:pic>
      </p:grpSp>
      <p:grpSp>
        <p:nvGrpSpPr>
          <p:cNvPr id="94" name="그룹 93"/>
          <p:cNvGrpSpPr/>
          <p:nvPr/>
        </p:nvGrpSpPr>
        <p:grpSpPr>
          <a:xfrm>
            <a:off x="6536586" y="3623558"/>
            <a:ext cx="912273" cy="404296"/>
            <a:chOff x="18778536" y="6673988"/>
            <a:chExt cx="9906000" cy="4390083"/>
          </a:xfrm>
        </p:grpSpPr>
        <p:pic>
          <p:nvPicPr>
            <p:cNvPr id="97" name="그림 96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778536" y="6673988"/>
              <a:ext cx="9906000" cy="4390083"/>
            </a:xfrm>
            <a:prstGeom prst="rect">
              <a:avLst/>
            </a:prstGeom>
          </p:spPr>
        </p:pic>
        <p:pic>
          <p:nvPicPr>
            <p:cNvPr id="98" name="그림 97"/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30668" y="8304912"/>
              <a:ext cx="1801736" cy="308664"/>
            </a:xfrm>
            <a:prstGeom prst="rect">
              <a:avLst/>
            </a:prstGeom>
          </p:spPr>
        </p:pic>
      </p:grpSp>
      <p:sp>
        <p:nvSpPr>
          <p:cNvPr id="142" name="TextBox 51"/>
          <p:cNvSpPr txBox="1">
            <a:spLocks noChangeArrowheads="1"/>
          </p:cNvSpPr>
          <p:nvPr/>
        </p:nvSpPr>
        <p:spPr bwMode="auto">
          <a:xfrm>
            <a:off x="6783087" y="4061687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6718702" y="4277711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</a:t>
            </a:r>
            <a:r>
              <a:rPr lang="en-US" altLang="ko-KR" sz="1083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</a:t>
            </a:r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</a:t>
            </a:r>
          </a:p>
        </p:txBody>
      </p:sp>
      <p:sp>
        <p:nvSpPr>
          <p:cNvPr id="144" name="TextBox 51"/>
          <p:cNvSpPr txBox="1">
            <a:spLocks noChangeArrowheads="1"/>
          </p:cNvSpPr>
          <p:nvPr/>
        </p:nvSpPr>
        <p:spPr bwMode="auto">
          <a:xfrm>
            <a:off x="8328466" y="4154129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8264081" y="4370153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</a:t>
            </a:r>
            <a:r>
              <a:rPr lang="en-US" altLang="ko-KR" sz="1083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</a:t>
            </a:r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01</a:t>
            </a:r>
            <a:endParaRPr lang="en-US" altLang="ko-KR" sz="1083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pic>
        <p:nvPicPr>
          <p:cNvPr id="114" name="그림 1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2247" y="3423861"/>
            <a:ext cx="583414" cy="915356"/>
          </a:xfrm>
          <a:prstGeom prst="rect">
            <a:avLst/>
          </a:prstGeom>
        </p:spPr>
      </p:pic>
      <p:sp>
        <p:nvSpPr>
          <p:cNvPr id="124" name="TextBox 51"/>
          <p:cNvSpPr txBox="1">
            <a:spLocks noChangeArrowheads="1"/>
          </p:cNvSpPr>
          <p:nvPr/>
        </p:nvSpPr>
        <p:spPr bwMode="auto">
          <a:xfrm>
            <a:off x="4800771" y="4324412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4736386" y="4540436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 </a:t>
            </a:r>
            <a:r>
              <a:rPr lang="en-US" altLang="ko-KR" sz="1083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</a:t>
            </a:r>
            <a:r>
              <a:rPr lang="en-US" altLang="ko-KR" sz="1083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348637" y="3552807"/>
            <a:ext cx="1194558" cy="25898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1083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내부 통신선</a:t>
            </a:r>
            <a:endParaRPr lang="en-US" altLang="ko-KR" sz="1083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pic>
        <p:nvPicPr>
          <p:cNvPr id="86" name="그림 85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377" y="1915368"/>
            <a:ext cx="606284" cy="916820"/>
          </a:xfrm>
          <a:prstGeom prst="rect">
            <a:avLst/>
          </a:prstGeom>
        </p:spPr>
      </p:pic>
      <p:sp>
        <p:nvSpPr>
          <p:cNvPr id="12" name="TextBox 51"/>
          <p:cNvSpPr txBox="1">
            <a:spLocks noChangeArrowheads="1"/>
          </p:cNvSpPr>
          <p:nvPr/>
        </p:nvSpPr>
        <p:spPr bwMode="auto">
          <a:xfrm>
            <a:off x="4800771" y="2812244"/>
            <a:ext cx="511679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36386" y="3028268"/>
            <a:ext cx="609275" cy="166649"/>
          </a:xfrm>
          <a:prstGeom prst="rect">
            <a:avLst/>
          </a:prstGeom>
          <a:solidFill>
            <a:srgbClr val="FFFF00"/>
          </a:solidFill>
          <a:ln>
            <a:solidFill>
              <a:schemeClr val="tx2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 </a:t>
            </a:r>
            <a:r>
              <a:rPr lang="en-US" altLang="ko-KR" sz="1083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</a:t>
            </a:r>
            <a:r>
              <a:rPr lang="en-US" altLang="ko-KR" sz="1083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00</a:t>
            </a:r>
          </a:p>
        </p:txBody>
      </p:sp>
      <p:sp>
        <p:nvSpPr>
          <p:cNvPr id="2" name="타원 1"/>
          <p:cNvSpPr/>
          <p:nvPr/>
        </p:nvSpPr>
        <p:spPr>
          <a:xfrm>
            <a:off x="4881114" y="2233663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타원 56"/>
          <p:cNvSpPr/>
          <p:nvPr/>
        </p:nvSpPr>
        <p:spPr>
          <a:xfrm>
            <a:off x="4895846" y="3707418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타원 57"/>
          <p:cNvSpPr/>
          <p:nvPr/>
        </p:nvSpPr>
        <p:spPr>
          <a:xfrm>
            <a:off x="6864448" y="2233662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타원 59"/>
          <p:cNvSpPr/>
          <p:nvPr/>
        </p:nvSpPr>
        <p:spPr>
          <a:xfrm>
            <a:off x="8394915" y="2220797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타원 61"/>
          <p:cNvSpPr/>
          <p:nvPr/>
        </p:nvSpPr>
        <p:spPr>
          <a:xfrm>
            <a:off x="6824046" y="3662936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00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타원 62"/>
          <p:cNvSpPr/>
          <p:nvPr/>
        </p:nvSpPr>
        <p:spPr>
          <a:xfrm>
            <a:off x="8396094" y="3656421"/>
            <a:ext cx="330481" cy="330481"/>
          </a:xfrm>
          <a:prstGeom prst="ellips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01</a:t>
            </a:r>
            <a:endParaRPr lang="ko-KR" altLang="en-US" sz="14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72480" y="801974"/>
            <a:ext cx="1085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체계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1162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59935" name="Group 1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734197"/>
              </p:ext>
            </p:extLst>
          </p:nvPr>
        </p:nvGraphicFramePr>
        <p:xfrm>
          <a:off x="506506" y="3279734"/>
          <a:ext cx="9127013" cy="2936092"/>
        </p:xfrm>
        <a:graphic>
          <a:graphicData uri="http://schemas.openxmlformats.org/drawingml/2006/table">
            <a:tbl>
              <a:tblPr/>
              <a:tblGrid>
                <a:gridCol w="1134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565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579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항목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Size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Content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STX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Start of Packet (32H)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Length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Packet length excluding STX and ETX (Length ~ CRC), Max=62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SA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Source Address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DA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Destination Address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836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Command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Command type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36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200" panose="020B0303030303020204" pitchFamily="50" charset="-127"/>
                        <a:ea typeface="SamsungOneKorean 200" panose="020B0303030303020204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Packet number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요청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제어 전송 패킷 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Packet NO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는 응답의 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Packet NO</a:t>
                      </a: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와 동일 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695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NO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of Message Sets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626864"/>
                  </a:ext>
                </a:extLst>
              </a:tr>
              <a:tr h="238360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Index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072269"/>
                  </a:ext>
                </a:extLst>
              </a:tr>
              <a:tr h="238360"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200" panose="020B0303030303020204" pitchFamily="50" charset="-127"/>
                        <a:ea typeface="SamsungOneKorean 200" panose="020B0303030303020204" pitchFamily="50" charset="-127"/>
                      </a:endParaRP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Value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Variable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Defined at the next pages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530701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CRC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CRC16 CCITT (SA ~ Prior to CRC)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9881595"/>
                  </a:ext>
                </a:extLst>
              </a:tr>
              <a:tr h="2383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ETX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End of Packet (34H)</a:t>
                      </a:r>
                    </a:p>
                  </a:txBody>
                  <a:tcPr marL="72000" marR="0" marT="0" marB="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520106"/>
                  </a:ext>
                </a:extLst>
              </a:tr>
            </a:tbl>
          </a:graphicData>
        </a:graphic>
      </p:graphicFrame>
      <p:sp>
        <p:nvSpPr>
          <p:cNvPr id="5174" name="Rectangle 2"/>
          <p:cNvSpPr>
            <a:spLocks noChangeArrowheads="1"/>
          </p:cNvSpPr>
          <p:nvPr/>
        </p:nvSpPr>
        <p:spPr bwMode="auto">
          <a:xfrm>
            <a:off x="1" y="-184293"/>
            <a:ext cx="184731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55" name="Group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26962"/>
              </p:ext>
            </p:extLst>
          </p:nvPr>
        </p:nvGraphicFramePr>
        <p:xfrm>
          <a:off x="507340" y="1196752"/>
          <a:ext cx="6333307" cy="563880"/>
        </p:xfrm>
        <a:graphic>
          <a:graphicData uri="http://schemas.openxmlformats.org/drawingml/2006/table">
            <a:tbl>
              <a:tblPr/>
              <a:tblGrid>
                <a:gridCol w="1117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27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4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044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2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Interface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Baud rate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Data Bit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Stop Bit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Parity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34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RS-485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9600bps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8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Even</a:t>
                      </a:r>
                    </a:p>
                  </a:txBody>
                  <a:tcPr marL="99060" marR="99060" marT="49530" marB="49530" anchor="ctr" horzOverflow="overflow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071215"/>
              </p:ext>
            </p:extLst>
          </p:nvPr>
        </p:nvGraphicFramePr>
        <p:xfrm>
          <a:off x="506505" y="2207380"/>
          <a:ext cx="9127015" cy="912101"/>
        </p:xfrm>
        <a:graphic>
          <a:graphicData uri="http://schemas.openxmlformats.org/drawingml/2006/table">
            <a:tbl>
              <a:tblPr/>
              <a:tblGrid>
                <a:gridCol w="4860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733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878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1551"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STX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Length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SA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DA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Command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NO</a:t>
                      </a:r>
                      <a:r>
                        <a:rPr lang="en-US" sz="1200" b="1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of</a:t>
                      </a:r>
                    </a:p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Sets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r>
                        <a:rPr lang="en-US" sz="1200" b="1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#1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0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6562" marR="26562" marT="26562" marB="26562" anchor="ctr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#2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…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CRC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ETX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55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Index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Value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..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999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32H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altLang="ko-KR" sz="1200" b="1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altLang="ko-KR" sz="1200" b="1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altLang="ko-KR" sz="1200" b="1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1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variable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variable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..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ko-KR" altLang="en-US" sz="12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34H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직사각형 11"/>
          <p:cNvSpPr/>
          <p:nvPr/>
        </p:nvSpPr>
        <p:spPr>
          <a:xfrm>
            <a:off x="488504" y="6248070"/>
            <a:ext cx="7560840" cy="27699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외부제어기에서 보내는 요청 패킷은 </a:t>
            </a:r>
            <a:r>
              <a:rPr lang="en-US" altLang="ko-KR" b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STX(32H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 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전에 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Preamble (55H, 100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를 붙여서 보낸다</a:t>
            </a:r>
            <a:r>
              <a:rPr lang="en-US" altLang="ko-KR" b="0" dirty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 채널을 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override</a:t>
            </a:r>
            <a:r>
              <a:rPr lang="ko-KR" altLang="en-US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하기 위함</a:t>
            </a:r>
            <a:r>
              <a:rPr lang="en-US" altLang="ko-KR" b="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en-US" altLang="ko-KR" b="0" dirty="0">
              <a:solidFill>
                <a:schemeClr val="bg1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2480" y="801974"/>
            <a:ext cx="1085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kumimoji="1"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설정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480" y="1844824"/>
            <a:ext cx="10855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 구조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484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563985" y="1124744"/>
            <a:ext cx="8837534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6A 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EE FF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lnSpc>
                <a:spcPts val="21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10 xx 00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실외기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</a:p>
          <a:p>
            <a:pPr>
              <a:lnSpc>
                <a:spcPts val="21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20 xx yy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en-US" altLang="ko-KR" sz="13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lnSpc>
                <a:spcPts val="21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BO FF FF : Broadcasting</a:t>
            </a:r>
          </a:p>
          <a:p>
            <a:pPr>
              <a:lnSpc>
                <a:spcPts val="21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B0 xx FF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Broadcasting, B3 xx </a:t>
            </a:r>
            <a:r>
              <a:rPr lang="en-US" altLang="ko-KR" sz="130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yy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Broadcasting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lnSpc>
                <a:spcPts val="21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 FF FF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</a:t>
            </a:r>
            <a:r>
              <a:rPr lang="ko-KR" altLang="en-US" sz="130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미확정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, 10 FF 00 :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Random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확정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441206"/>
              </p:ext>
            </p:extLst>
          </p:nvPr>
        </p:nvGraphicFramePr>
        <p:xfrm>
          <a:off x="776536" y="3619739"/>
          <a:ext cx="7920880" cy="247355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76694">
                  <a:extLst>
                    <a:ext uri="{9D8B030D-6E8A-4147-A177-3AD203B41FA5}">
                      <a16:colId xmlns:a16="http://schemas.microsoft.com/office/drawing/2014/main" val="276544310"/>
                    </a:ext>
                  </a:extLst>
                </a:gridCol>
                <a:gridCol w="6644186">
                  <a:extLst>
                    <a:ext uri="{9D8B030D-6E8A-4147-A177-3AD203B41FA5}">
                      <a16:colId xmlns:a16="http://schemas.microsoft.com/office/drawing/2014/main" val="587863852"/>
                    </a:ext>
                  </a:extLst>
                </a:gridCol>
              </a:tblGrid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 Type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내용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5945104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Standby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모드에서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Request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0917963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05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Standby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모드에서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Response 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9283568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11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Request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</a:t>
                      </a:r>
                      <a:r>
                        <a:rPr lang="en-US" altLang="ko-KR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35461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12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Setting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</a:t>
                      </a:r>
                      <a:r>
                        <a:rPr lang="en-US" altLang="ko-KR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453105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13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Control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5063512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14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Notification (</a:t>
                      </a:r>
                      <a:r>
                        <a:rPr lang="ko-KR" altLang="en-US" sz="1200" u="none" strike="noStrike" dirty="0" err="1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실내외기의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상태를 알림</a:t>
                      </a:r>
                      <a:r>
                        <a:rPr lang="en-US" altLang="ko-KR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478402"/>
                  </a:ext>
                </a:extLst>
              </a:tr>
              <a:tr h="2508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15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Request/Setting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대한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</a:t>
                      </a:r>
                      <a:r>
                        <a:rPr 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esponse 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</a:t>
                      </a:r>
                      <a:r>
                        <a:rPr 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실외기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sym typeface="Wingdings" panose="05000000000000000000" pitchFamily="2" charset="2"/>
                        </a:rPr>
                        <a:t>외부제어기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020806"/>
                  </a:ext>
                </a:extLst>
              </a:tr>
              <a:tr h="2334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</a:t>
                      </a:r>
                      <a:r>
                        <a:rPr lang="en-US" altLang="ko-KR" sz="12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16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Normal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상태에서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Control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대한 </a:t>
                      </a:r>
                      <a:r>
                        <a:rPr lang="en-US" altLang="ko-KR" sz="1200" u="none" strike="noStrike" dirty="0" err="1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Ack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응답 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실외기 </a:t>
                      </a:r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→ </a:t>
                      </a:r>
                      <a:r>
                        <a:rPr lang="ko-KR" altLang="en-US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en-US" altLang="ko-KR" sz="12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31516"/>
                  </a:ext>
                </a:extLst>
              </a:tr>
              <a:tr h="23343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기타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b="0" i="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무시</a:t>
                      </a:r>
                      <a:endParaRPr lang="en-US" altLang="ko-KR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934293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579873" y="6021288"/>
            <a:ext cx="3653047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∙ Packet NO (1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바이트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 : Packet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생성 시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씩 증가</a:t>
            </a:r>
            <a:endParaRPr lang="en-US" altLang="ko-KR" sz="13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745088" y="1264067"/>
            <a:ext cx="2778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xx 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(00H~0FH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  </a:t>
            </a:r>
          </a:p>
          <a:p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   </a:t>
            </a:r>
            <a:r>
              <a:rPr lang="en-US" altLang="ko-KR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yy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physical </a:t>
            </a:r>
            <a:r>
              <a:rPr lang="ko-KR" altLang="en-US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(00H~3FH) 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272480" y="801974"/>
            <a:ext cx="5737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SA (Source Address 3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 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및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DA (Destination Address 3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72480" y="2916048"/>
            <a:ext cx="20136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Command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(3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85996" y="3249851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Command Type (2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827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36821"/>
              </p:ext>
            </p:extLst>
          </p:nvPr>
        </p:nvGraphicFramePr>
        <p:xfrm>
          <a:off x="776536" y="1474331"/>
          <a:ext cx="8136904" cy="476298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759579484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3425642640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1434323898"/>
                    </a:ext>
                  </a:extLst>
                </a:gridCol>
              </a:tblGrid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Size of Value</a:t>
                      </a:r>
                      <a:endParaRPr 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비고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0470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00 xx</a:t>
                      </a:r>
                      <a:endParaRPr lang="en-US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3175165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01 xx</a:t>
                      </a:r>
                      <a:endParaRPr lang="en-US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613225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02 xx</a:t>
                      </a:r>
                      <a:endParaRPr lang="en-US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8865336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04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810556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06 xx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따라 다름</a:t>
                      </a:r>
                      <a:endParaRPr 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of Message Sets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은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로 고정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. Parsing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시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06 xx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메시지는 무시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7362471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20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987311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21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987108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22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4521181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24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5944319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26 xx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따라 다름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of Message Sets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은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로 고정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. Parsing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시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26 xx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메시지는 무시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356895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40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328844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41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7714235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42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7370917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44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16753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46 xx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따라 다름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of Message Sets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은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로 고정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. Parsing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시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46 xx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메시지는 무시</a:t>
                      </a:r>
                      <a:r>
                        <a:rPr lang="ko-KR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9504442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80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2569274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82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6835087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1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84 </a:t>
                      </a:r>
                      <a:r>
                        <a:rPr lang="en-US" altLang="ko-KR" sz="1200" b="1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xx</a:t>
                      </a:r>
                      <a:endParaRPr lang="en-US" altLang="ko-KR" sz="1200" b="1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200" b="0" i="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200" u="none" strike="noStrike" dirty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982347"/>
                  </a:ext>
                </a:extLst>
              </a:tr>
              <a:tr h="2381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Courier New" panose="02070309020205020404" pitchFamily="49" charset="0"/>
                        </a:rPr>
                        <a:t>86 xx</a:t>
                      </a:r>
                      <a:endParaRPr lang="en-US" sz="1200" b="1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  <a:cs typeface="Courier New" panose="02070309020205020404" pitchFamily="49" charset="0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9057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ko-KR" altLang="en-US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 따라 다름</a:t>
                      </a:r>
                      <a:endParaRPr lang="en-US" altLang="ko-KR" sz="1200" b="0" i="0" u="none" strike="noStrike" dirty="0" smtClean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200" b="0" i="0" u="none" strike="noStrike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of Message Sets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은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로 고정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. Parsing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시 </a:t>
                      </a:r>
                      <a:r>
                        <a:rPr lang="en-US" altLang="ko-KR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86 xx </a:t>
                      </a:r>
                      <a:r>
                        <a:rPr lang="ko-KR" altLang="en-US" sz="1200" b="0" i="0" u="none" strike="noStrike" baseline="0" dirty="0" smtClean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메시지는 무시</a:t>
                      </a:r>
                      <a:r>
                        <a:rPr lang="ko-KR" altLang="en-US" sz="1200" u="none" strike="noStrike" dirty="0">
                          <a:solidFill>
                            <a:srgbClr val="FF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　</a:t>
                      </a:r>
                      <a:endParaRPr lang="ko-KR" altLang="en-US" sz="1200" b="0" i="0" u="none" strike="noStrike" dirty="0">
                        <a:solidFill>
                          <a:srgbClr val="FF0000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101024"/>
                  </a:ext>
                </a:extLst>
              </a:tr>
            </a:tbl>
          </a:graphicData>
        </a:graphic>
      </p:graphicFrame>
      <p:sp>
        <p:nvSpPr>
          <p:cNvPr id="4" name="직사각형 3"/>
          <p:cNvSpPr/>
          <p:nvPr/>
        </p:nvSpPr>
        <p:spPr>
          <a:xfrm>
            <a:off x="704528" y="6248345"/>
            <a:ext cx="1316386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</a:rPr>
              <a:t>※ xx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</a:rPr>
              <a:t>는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</a:rPr>
              <a:t>don’t care</a:t>
            </a:r>
            <a:endParaRPr lang="ko-KR" altLang="en-US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72480" y="801974"/>
            <a:ext cx="1984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Message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Set 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사이즈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585996" y="1135777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Index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별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Value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사이즈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정의되지 않은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index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는 모두 무시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8460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432046" y="2895327"/>
            <a:ext cx="927348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ko-KR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 00 3E 20 02 0A B3 02 FF C0 14 63 0C 42 01 00 F0 42 02 00 F0 42 03 00 D0 42 04 00 9E </a:t>
            </a:r>
            <a:r>
              <a:rPr lang="it-IT" altLang="ko-KR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 </a:t>
            </a:r>
            <a:r>
              <a:rPr lang="it-IT" altLang="ko-KR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05 00 </a:t>
            </a:r>
            <a:r>
              <a:rPr lang="it-IT" altLang="ko-KR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C8</a:t>
            </a:r>
          </a:p>
          <a:p>
            <a:r>
              <a:rPr lang="it-IT" altLang="ko-KR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 </a:t>
            </a:r>
            <a:r>
              <a:rPr lang="it-IT" altLang="ko-KR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06 00 C4 42 0A 00 96 42 0B FE 0C 42 11 00 00 42 12 00 2C 42 13 07 D0 42 17 07 D0 </a:t>
            </a:r>
            <a:r>
              <a:rPr lang="it-IT" altLang="ko-KR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 </a:t>
            </a:r>
            <a:r>
              <a:rPr lang="it-IT" altLang="ko-KR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86 34</a:t>
            </a:r>
            <a:endParaRPr lang="ko-KR" altLang="en-US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9485" y="5611306"/>
            <a:ext cx="863674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it-IT" altLang="ko-KR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 00 1A 20 0A 07 B3 0A FF C0 14 AD 01 06 01 20 01 00 00 00 00 30 00 00 00 E6 10 </a:t>
            </a:r>
            <a:r>
              <a:rPr lang="it-IT" altLang="ko-KR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pPr>
              <a:lnSpc>
                <a:spcPts val="1800"/>
              </a:lnSpc>
            </a:pPr>
            <a:r>
              <a:rPr lang="it-IT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Command Type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이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x6 xx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이므로 무시</a:t>
            </a:r>
            <a:endParaRPr lang="ko-KR" altLang="en-US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88320" y="2936151"/>
            <a:ext cx="495946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 rot="19200000">
            <a:off x="766088" y="2243391"/>
            <a:ext cx="17604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 길이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(3EH +2 = 64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344285" y="2935639"/>
            <a:ext cx="748991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 rot="19200000">
            <a:off x="1354043" y="2016903"/>
            <a:ext cx="241284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SA(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2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번의 실내기 주소 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10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번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61469" y="2933964"/>
            <a:ext cx="77491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 rot="19200000">
            <a:off x="2287391" y="2272449"/>
            <a:ext cx="16081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DA (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Broadcasting)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995377" y="2933964"/>
            <a:ext cx="496164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 rot="19200000">
            <a:off x="3021901" y="2436750"/>
            <a:ext cx="10839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Command Type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549746" y="2929740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 rot="19200000">
            <a:off x="3435113" y="2440168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Packet Number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815342" y="2928080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 rot="19200000">
            <a:off x="3716761" y="2391550"/>
            <a:ext cx="12346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개수 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(12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개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4093965" y="2929796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 rot="19200000">
            <a:off x="4360649" y="2404095"/>
            <a:ext cx="125226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 (</a:t>
            </a:r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설정온도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5193525" y="2928080"/>
            <a:ext cx="1049367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 rot="19200000">
            <a:off x="5546285" y="2558023"/>
            <a:ext cx="7008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2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299432" y="2923634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 rot="19200000">
            <a:off x="6559704" y="2397933"/>
            <a:ext cx="126509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 (</a:t>
            </a:r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현재온도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412441" y="2919513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 rot="19200000">
            <a:off x="7743742" y="2560084"/>
            <a:ext cx="7072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4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520786" y="2919513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 rot="19200000">
            <a:off x="8853690" y="2560084"/>
            <a:ext cx="70403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5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98939" y="2936939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 rot="19200000">
            <a:off x="496461" y="2656942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STX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499167" y="3136904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 rot="-19200000">
            <a:off x="832499" y="3430625"/>
            <a:ext cx="705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6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1606183" y="3137665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 rot="-19200000">
            <a:off x="1944324" y="3431386"/>
            <a:ext cx="69602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7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725798" y="3134532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 rot="-19200000">
            <a:off x="3057527" y="3428253"/>
            <a:ext cx="70884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8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832814" y="3135293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 rot="-19200000">
            <a:off x="4166146" y="3429014"/>
            <a:ext cx="70564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9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936761" y="3132459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 rot="-19200000">
            <a:off x="5263442" y="3437682"/>
            <a:ext cx="77296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10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043777" y="3133220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 rot="-19200000">
            <a:off x="6353937" y="3444388"/>
            <a:ext cx="7521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11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7128177" y="3131698"/>
            <a:ext cx="103989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 rot="-19200000">
            <a:off x="7457273" y="3442381"/>
            <a:ext cx="7601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12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8235193" y="3132459"/>
            <a:ext cx="502407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 rot="-19200000">
            <a:off x="8349499" y="3333160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CRC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8783795" y="3131698"/>
            <a:ext cx="234081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TextBox 48"/>
          <p:cNvSpPr txBox="1"/>
          <p:nvPr/>
        </p:nvSpPr>
        <p:spPr>
          <a:xfrm rot="-19200000">
            <a:off x="8764642" y="3330892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ETX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799215" y="5683471"/>
            <a:ext cx="495946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 rot="19200000">
            <a:off x="778586" y="4990711"/>
            <a:ext cx="175721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 길이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(1AH +2 = 28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바이트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1355180" y="5682959"/>
            <a:ext cx="748991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TextBox 52"/>
          <p:cNvSpPr txBox="1"/>
          <p:nvPr/>
        </p:nvSpPr>
        <p:spPr>
          <a:xfrm rot="19200000">
            <a:off x="1388183" y="4764223"/>
            <a:ext cx="23663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SA(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10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번의 실내기 주소 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7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번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2172364" y="5681284"/>
            <a:ext cx="77491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5" name="TextBox 54"/>
          <p:cNvSpPr txBox="1"/>
          <p:nvPr/>
        </p:nvSpPr>
        <p:spPr>
          <a:xfrm rot="19200000">
            <a:off x="2298286" y="5019769"/>
            <a:ext cx="160813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DA (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Broadcasting)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006272" y="5681284"/>
            <a:ext cx="496164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 rot="19200000">
            <a:off x="3032796" y="5184070"/>
            <a:ext cx="10839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Command Type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3560641" y="5677060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 rot="19200000">
            <a:off x="3446008" y="5187488"/>
            <a:ext cx="10807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Packet Number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826237" y="5675400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509834" y="5684259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TextBox 61"/>
          <p:cNvSpPr txBox="1"/>
          <p:nvPr/>
        </p:nvSpPr>
        <p:spPr>
          <a:xfrm rot="19200000">
            <a:off x="507356" y="5404262"/>
            <a:ext cx="40267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STX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 rot="19200000">
            <a:off x="3713223" y="5172360"/>
            <a:ext cx="11673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개수 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(1</a:t>
            </a:r>
            <a:r>
              <a:rPr lang="ko-KR" altLang="en-US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개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64" name="직사각형 63"/>
          <p:cNvSpPr/>
          <p:nvPr/>
        </p:nvSpPr>
        <p:spPr>
          <a:xfrm>
            <a:off x="4117277" y="5675400"/>
            <a:ext cx="3264425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TextBox 64"/>
          <p:cNvSpPr txBox="1"/>
          <p:nvPr/>
        </p:nvSpPr>
        <p:spPr>
          <a:xfrm rot="19200000">
            <a:off x="5518421" y="5332446"/>
            <a:ext cx="6928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메세지셋</a:t>
            </a:r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7432010" y="5677364"/>
            <a:ext cx="495946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TextBox 68"/>
          <p:cNvSpPr txBox="1"/>
          <p:nvPr/>
        </p:nvSpPr>
        <p:spPr>
          <a:xfrm rot="19200000">
            <a:off x="7506881" y="5400259"/>
            <a:ext cx="42030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CRC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7975675" y="5677083"/>
            <a:ext cx="225853" cy="1723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TextBox 70"/>
          <p:cNvSpPr txBox="1"/>
          <p:nvPr/>
        </p:nvSpPr>
        <p:spPr>
          <a:xfrm rot="19200000">
            <a:off x="7972395" y="5397086"/>
            <a:ext cx="4042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ETX</a:t>
            </a:r>
            <a:endParaRPr lang="ko-KR" altLang="en-US" sz="11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2480" y="801974"/>
            <a:ext cx="198483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195219" latinLnBrk="1">
              <a:spcBef>
                <a:spcPct val="50000"/>
              </a:spcBef>
            </a:pP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Message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Set 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사이즈</a:t>
            </a:r>
            <a:endParaRPr kumimoji="1" lang="ko-KR" altLang="en-US" sz="1600" b="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585996" y="1135777"/>
            <a:ext cx="8837534" cy="31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 예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4816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ChangeArrowheads="1"/>
          </p:cNvSpPr>
          <p:nvPr/>
        </p:nvSpPr>
        <p:spPr bwMode="auto">
          <a:xfrm>
            <a:off x="678692" y="5085184"/>
            <a:ext cx="6968574" cy="15542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unsigned int Calculate_CCITT_CRC16(unsigned int count, char *buffer) {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unsigned int crc = 0;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do {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    int value = *buffer++;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    crc = (unsigned short)((crc &lt;&lt; 8) ^  CCITT_CRC16_TABLE[((crc &gt;&gt; 8) ^ value) &amp; 255]);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}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while (--count);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 return crc;</a:t>
            </a:r>
          </a:p>
          <a:p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Rectangle 20"/>
          <p:cNvSpPr>
            <a:spLocks noChangeArrowheads="1"/>
          </p:cNvSpPr>
          <p:nvPr/>
        </p:nvSpPr>
        <p:spPr bwMode="auto">
          <a:xfrm>
            <a:off x="694778" y="1124744"/>
            <a:ext cx="8074646" cy="3944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const unsigned int CCITT_CRC16_TABLE[256] = {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0x0000, 0x1021, 0x2042, 0x3063, 0x4084, 0x50A5, 0x60C6, 0x70E7, 0x8108, 0x9129, 0xA14A, 0xB16B, 0xC18C,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0xD1AD, 0xE1CE, 0xF1EF, 0x1231, 0x0210, 0x3273, 0x2252, 0x52B5, 0x4294, 0x72F7, 0x62D6, 0x9339, 0x8318,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0xB37B, 0xA35A, 0xD3BD, 0xC39C, 0xF3FF, 0xE3DE, 0x2462, 0x3443, 0x0420, 0x1401, 0x64E6, 0x74C7, 0x44A4,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0x5485, 0xA56A, 0xB54B, 0x8528, 0x9509, 0xE5EE, 0xF5CF, 0xC5AC, 0xD58D, 0x3653, 0x2672, 0x1611, 0x0630,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0x76D7, 0x66F6, 0x5695, 0x46B4, 0xB75B, 0xA77A, 0x9719, 0x8738, 0xF7DF, 0xE7FE, 0xD79D, 0xC7BC, 0x48C4,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0x58E5, 0x6886, 0x78A7, 0x0840, 0x1861, 0x2802, 0x3823, 0xC9CC, 0xD9ED, 0xE98E, 0xF9AF, 0x8948, 0x9969,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0xA90A, 0xB92B, 0x5AF5, 0x4AD4, 0x7AB7, 0x6A96, 0x1A71, 0x0A50, 0x3A33, 0x2A12, 0xDBFD, 0xCBDC, 0xFBBF,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0xEB9E, 0x9B79, 0x8B58, 0xBB3B, 0xAB1A, 0x6CA6, 0x7C87, 0x4CE4, 0x5CC5, 0x2C22, 0x3C03, 0x0C60, 0x1C41,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0xEDAE, 0xFD8F, 0xCDEC, 0xDDCD, 0xAD2A, 0xBD0B, 0x8D68, 0x9D49, 0x7E97, 0x6EB6, 0x5ED5, 0x4EF4, 0x3E13,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0x2E32, 0x1E51, 0x0E70, 0xFF9F, 0xEFBE, 0xDFDD, 0xCFFC, 0xBF1B, 0xAF3A, 0x9F59, 0x8F78, 0x9188, 0x81A9,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0xB1CA, 0xA1EB, 0xD10C, 0xC12D, 0xF14E, 0xE16F, 0x1080, 0x00A1, 0x30C2, 0x20E3, 0x5004, 0x4025, 0x7046,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0x6067, 0x83B9, 0x9398, 0xA3FB, 0xB3DA, 0xC33D, 0xD31C, 0xE37F, 0xF35E, 0x02B1, 0x1290, 0x22F3, 0x32D2,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0x4235, 0x5214, 0x6277, 0x7256, 0xB5EA, 0xA5CB, 0x95A8, 0x8589, 0xF56E, 0xE54F, 0xD52C, 0xC50D, 0x34E2,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0x24C3, 0x14A0, 0x0481, 0x7466, 0x6447, 0x5424, 0x4405, 0xA7DB, 0xB7FA, 0x8799, 0x97B8, 0xE75F, 0xF77E,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0xC71D, 0xD73C, 0x26D3, 0x36F2, 0x0691, 0x16B0, 0x6657, 0x7676, 0x4615, 0x5634, 0xD94C, 0xC96D, 0xF90E,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0xE92F, 0x99C8, 0x89E9, 0xB98A, 0xA9AB, 0x5844, 0x4865, 0x7806, 0x6827, 0x18C0, 0x08E1, 0x3882, 0x28A3,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   0xCB7D, 0xDB5C, 0xEB3F, 0xFB1E, 0x8BF9, 0x9BD8, 0xABBB, 0xBB9A, 0x4A75, 0x5A54, 0x6A37, 0x7A16, 0x0AF1,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0x1AD0, 0x2AB3, 0x3A92, 0xFD2E, 0xED0F, 0xDD6C, 0xCD4D, 0xBDAA, 0xAD8B, 0x9DE8, 0x8DC9, 0x7C26, 0x6C07,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0x5C64, 0x4C45, 0x3CA2, 0x2C83, 0x1CE0, 0x0CC1, 0xEF1F, 0xFF3E, 0xCF5D, 0xDF7C, 0xAF9B, 0xBFBA, 0x8FD9, 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   0x9FF8, 0x6E17, 0x7E36, 0x4E55, 0x5E74, 0x2E93, 0x3EB2, 0x0ED1, 0x1EF0</a:t>
            </a:r>
          </a:p>
          <a:p>
            <a:pPr>
              <a:lnSpc>
                <a:spcPct val="120000"/>
              </a:lnSpc>
            </a:pPr>
            <a:r>
              <a:rPr lang="en-US" altLang="ko-KR" sz="950" b="0" dirty="0">
                <a:solidFill>
                  <a:schemeClr val="tx2"/>
                </a:solidFill>
                <a:latin typeface="Courier New" panose="02070309020205020404" pitchFamily="49" charset="0"/>
                <a:ea typeface="굴림" charset="-127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80" y="801974"/>
            <a:ext cx="17331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CRC Calculation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0894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오각형 14"/>
          <p:cNvSpPr/>
          <p:nvPr/>
        </p:nvSpPr>
        <p:spPr>
          <a:xfrm rot="10800000">
            <a:off x="2394108" y="2852710"/>
            <a:ext cx="2376878" cy="32014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1" name="직선 연결선 40"/>
          <p:cNvCxnSpPr/>
          <p:nvPr/>
        </p:nvCxnSpPr>
        <p:spPr bwMode="auto">
          <a:xfrm>
            <a:off x="5563075" y="1124744"/>
            <a:ext cx="0" cy="5322679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42" name="직선 연결선 41"/>
          <p:cNvCxnSpPr/>
          <p:nvPr/>
        </p:nvCxnSpPr>
        <p:spPr bwMode="auto">
          <a:xfrm>
            <a:off x="6544395" y="1203763"/>
            <a:ext cx="0" cy="524366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직사각형 65"/>
          <p:cNvSpPr/>
          <p:nvPr/>
        </p:nvSpPr>
        <p:spPr bwMode="auto">
          <a:xfrm>
            <a:off x="5033069" y="980728"/>
            <a:ext cx="2081191" cy="6108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</a:t>
            </a:r>
            <a:endParaRPr lang="en-US" altLang="ko-KR" sz="13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#0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6068917" y="1081021"/>
            <a:ext cx="957495" cy="4163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#0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의</a:t>
            </a:r>
            <a:endParaRPr lang="en-US" altLang="ko-KR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algn="ctr">
              <a:defRPr/>
            </a:pP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ko-KR" altLang="en-US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95" name="직선 연결선 94"/>
          <p:cNvCxnSpPr/>
          <p:nvPr/>
        </p:nvCxnSpPr>
        <p:spPr bwMode="auto">
          <a:xfrm>
            <a:off x="7956289" y="1203763"/>
            <a:ext cx="0" cy="524366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cxnSp>
        <p:nvCxnSpPr>
          <p:cNvPr id="102" name="직선 연결선 101"/>
          <p:cNvCxnSpPr/>
          <p:nvPr/>
        </p:nvCxnSpPr>
        <p:spPr bwMode="auto">
          <a:xfrm>
            <a:off x="8805221" y="1268760"/>
            <a:ext cx="0" cy="496855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2" name="아래쪽 화살표 61"/>
          <p:cNvSpPr/>
          <p:nvPr/>
        </p:nvSpPr>
        <p:spPr>
          <a:xfrm>
            <a:off x="1450914" y="3176539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9" name="Rectangle 177"/>
          <p:cNvSpPr>
            <a:spLocks noChangeArrowheads="1"/>
          </p:cNvSpPr>
          <p:nvPr/>
        </p:nvSpPr>
        <p:spPr bwMode="auto">
          <a:xfrm>
            <a:off x="869324" y="2511746"/>
            <a:ext cx="1381383" cy="659932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</a:t>
            </a:r>
          </a:p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확정</a:t>
            </a:r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88" name="Rectangle 177"/>
          <p:cNvSpPr>
            <a:spLocks noChangeArrowheads="1"/>
          </p:cNvSpPr>
          <p:nvPr/>
        </p:nvSpPr>
        <p:spPr bwMode="auto">
          <a:xfrm>
            <a:off x="869324" y="4941705"/>
            <a:ext cx="1381383" cy="285920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모니터링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1" name="Rectangle 177"/>
          <p:cNvSpPr>
            <a:spLocks noChangeArrowheads="1"/>
          </p:cNvSpPr>
          <p:nvPr/>
        </p:nvSpPr>
        <p:spPr bwMode="auto">
          <a:xfrm>
            <a:off x="869324" y="3341534"/>
            <a:ext cx="1381383" cy="660889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통신</a:t>
            </a:r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Ready </a:t>
            </a:r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확인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90" name="Rectangle 177"/>
          <p:cNvSpPr>
            <a:spLocks noChangeArrowheads="1"/>
          </p:cNvSpPr>
          <p:nvPr/>
        </p:nvSpPr>
        <p:spPr bwMode="auto">
          <a:xfrm>
            <a:off x="869324" y="5397480"/>
            <a:ext cx="1381383" cy="607056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제어 </a:t>
            </a:r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필요 시</a:t>
            </a:r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59" name="직사각형 58"/>
          <p:cNvSpPr/>
          <p:nvPr/>
        </p:nvSpPr>
        <p:spPr bwMode="auto">
          <a:xfrm>
            <a:off x="7365062" y="984671"/>
            <a:ext cx="1980426" cy="610884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</a:t>
            </a:r>
            <a:endParaRPr lang="en-US" altLang="ko-KR" sz="13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#1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68" name="직사각형 67"/>
          <p:cNvSpPr/>
          <p:nvPr/>
        </p:nvSpPr>
        <p:spPr bwMode="auto">
          <a:xfrm>
            <a:off x="8301165" y="1084964"/>
            <a:ext cx="957495" cy="41635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#1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의</a:t>
            </a:r>
            <a:endParaRPr lang="en-US" altLang="ko-KR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algn="ctr">
              <a:defRPr/>
            </a:pP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endParaRPr lang="ko-KR" altLang="en-US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9" name="직선 연결선 8"/>
          <p:cNvCxnSpPr/>
          <p:nvPr/>
        </p:nvCxnSpPr>
        <p:spPr bwMode="auto">
          <a:xfrm>
            <a:off x="4625849" y="2607854"/>
            <a:ext cx="653956" cy="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1" name="직선 연결선 70"/>
          <p:cNvCxnSpPr/>
          <p:nvPr/>
        </p:nvCxnSpPr>
        <p:spPr bwMode="auto">
          <a:xfrm>
            <a:off x="4588871" y="2751870"/>
            <a:ext cx="297947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4" name="직선 연결선 73"/>
          <p:cNvCxnSpPr/>
          <p:nvPr/>
        </p:nvCxnSpPr>
        <p:spPr bwMode="auto">
          <a:xfrm flipV="1">
            <a:off x="5277007" y="2353299"/>
            <a:ext cx="299257" cy="254555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6" name="직선 연결선 75"/>
          <p:cNvCxnSpPr/>
          <p:nvPr/>
        </p:nvCxnSpPr>
        <p:spPr bwMode="auto">
          <a:xfrm flipV="1">
            <a:off x="7568344" y="2239963"/>
            <a:ext cx="389749" cy="511907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2" name="직선 연결선 81"/>
          <p:cNvCxnSpPr/>
          <p:nvPr/>
        </p:nvCxnSpPr>
        <p:spPr bwMode="auto">
          <a:xfrm>
            <a:off x="4773893" y="2924718"/>
            <a:ext cx="65933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83" name="직선 연결선 82"/>
          <p:cNvCxnSpPr/>
          <p:nvPr/>
        </p:nvCxnSpPr>
        <p:spPr bwMode="auto">
          <a:xfrm>
            <a:off x="4773893" y="3090232"/>
            <a:ext cx="289130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86" name="직선 연결선 85"/>
          <p:cNvCxnSpPr/>
          <p:nvPr/>
        </p:nvCxnSpPr>
        <p:spPr bwMode="auto">
          <a:xfrm flipV="1">
            <a:off x="7665201" y="2725170"/>
            <a:ext cx="289285" cy="36700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03" name="직선 연결선 102"/>
          <p:cNvCxnSpPr/>
          <p:nvPr/>
        </p:nvCxnSpPr>
        <p:spPr bwMode="auto">
          <a:xfrm flipV="1">
            <a:off x="5410944" y="2809297"/>
            <a:ext cx="134810" cy="121703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04" name="오각형 103"/>
          <p:cNvSpPr/>
          <p:nvPr/>
        </p:nvSpPr>
        <p:spPr>
          <a:xfrm>
            <a:off x="2380918" y="2512537"/>
            <a:ext cx="2376878" cy="264863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8" name="Rectangle 177"/>
          <p:cNvSpPr>
            <a:spLocks noChangeArrowheads="1"/>
          </p:cNvSpPr>
          <p:nvPr/>
        </p:nvSpPr>
        <p:spPr bwMode="auto">
          <a:xfrm>
            <a:off x="2814224" y="2487368"/>
            <a:ext cx="1399858" cy="306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확정 요청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5" name="Rectangle 177"/>
          <p:cNvSpPr>
            <a:spLocks noChangeArrowheads="1"/>
          </p:cNvSpPr>
          <p:nvPr/>
        </p:nvSpPr>
        <p:spPr bwMode="auto">
          <a:xfrm>
            <a:off x="2825760" y="2859643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확정 응답</a:t>
            </a:r>
            <a:endParaRPr lang="en-US" altLang="ko-KR" sz="10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40" name="직선 연결선 39"/>
          <p:cNvCxnSpPr>
            <a:stCxn id="64" idx="0"/>
          </p:cNvCxnSpPr>
          <p:nvPr/>
        </p:nvCxnSpPr>
        <p:spPr bwMode="auto">
          <a:xfrm flipH="1">
            <a:off x="2382722" y="1209172"/>
            <a:ext cx="3000" cy="502573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오각형 64"/>
          <p:cNvSpPr/>
          <p:nvPr/>
        </p:nvSpPr>
        <p:spPr>
          <a:xfrm rot="10800000">
            <a:off x="2407298" y="3684918"/>
            <a:ext cx="2376878" cy="32014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67" name="직선 연결선 66"/>
          <p:cNvCxnSpPr/>
          <p:nvPr/>
        </p:nvCxnSpPr>
        <p:spPr bwMode="auto">
          <a:xfrm>
            <a:off x="4633344" y="3411722"/>
            <a:ext cx="69477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5" name="직선 연결선 74"/>
          <p:cNvCxnSpPr/>
          <p:nvPr/>
        </p:nvCxnSpPr>
        <p:spPr bwMode="auto">
          <a:xfrm>
            <a:off x="4588871" y="3518163"/>
            <a:ext cx="3040405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V="1">
            <a:off x="5328122" y="3142569"/>
            <a:ext cx="248142" cy="25526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78" name="직선 연결선 77"/>
          <p:cNvCxnSpPr/>
          <p:nvPr/>
        </p:nvCxnSpPr>
        <p:spPr bwMode="auto">
          <a:xfrm flipV="1">
            <a:off x="7629276" y="3068961"/>
            <a:ext cx="342007" cy="44920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4787083" y="3756926"/>
            <a:ext cx="66966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85" name="직선 연결선 84"/>
          <p:cNvCxnSpPr/>
          <p:nvPr/>
        </p:nvCxnSpPr>
        <p:spPr bwMode="auto">
          <a:xfrm>
            <a:off x="4790669" y="3920453"/>
            <a:ext cx="2809981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92" name="직선 연결선 91"/>
          <p:cNvCxnSpPr/>
          <p:nvPr/>
        </p:nvCxnSpPr>
        <p:spPr bwMode="auto">
          <a:xfrm flipV="1">
            <a:off x="7600650" y="3518163"/>
            <a:ext cx="357104" cy="40474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94" name="직선 연결선 93"/>
          <p:cNvCxnSpPr/>
          <p:nvPr/>
        </p:nvCxnSpPr>
        <p:spPr bwMode="auto">
          <a:xfrm flipV="1">
            <a:off x="5461220" y="3656365"/>
            <a:ext cx="101854" cy="9585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96" name="오각형 95"/>
          <p:cNvSpPr/>
          <p:nvPr/>
        </p:nvSpPr>
        <p:spPr>
          <a:xfrm>
            <a:off x="2394108" y="3341534"/>
            <a:ext cx="2376878" cy="249617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Rectangle 177"/>
          <p:cNvSpPr>
            <a:spLocks noChangeArrowheads="1"/>
          </p:cNvSpPr>
          <p:nvPr/>
        </p:nvSpPr>
        <p:spPr bwMode="auto">
          <a:xfrm>
            <a:off x="2846372" y="3314822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실내외기 통신 </a:t>
            </a:r>
            <a:r>
              <a:rPr lang="en-US" altLang="ko-KR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Ready</a:t>
            </a:r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요청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0" name="Rectangle 177"/>
          <p:cNvSpPr>
            <a:spLocks noChangeArrowheads="1"/>
          </p:cNvSpPr>
          <p:nvPr/>
        </p:nvSpPr>
        <p:spPr bwMode="auto">
          <a:xfrm>
            <a:off x="2838950" y="3690388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실내외기 통신 </a:t>
            </a:r>
            <a:r>
              <a:rPr lang="en-US" altLang="ko-KR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Ready</a:t>
            </a:r>
            <a:r>
              <a:rPr lang="ko-KR" altLang="en-US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</a:t>
            </a:r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응답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6" name="오각형 105"/>
          <p:cNvSpPr/>
          <p:nvPr/>
        </p:nvSpPr>
        <p:spPr>
          <a:xfrm rot="10800000">
            <a:off x="2407298" y="4941704"/>
            <a:ext cx="2376878" cy="285920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9" name="직선 연결선 118"/>
          <p:cNvCxnSpPr/>
          <p:nvPr/>
        </p:nvCxnSpPr>
        <p:spPr bwMode="auto">
          <a:xfrm>
            <a:off x="4787083" y="5013713"/>
            <a:ext cx="55014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20" name="직선 연결선 119"/>
          <p:cNvCxnSpPr/>
          <p:nvPr/>
        </p:nvCxnSpPr>
        <p:spPr bwMode="auto">
          <a:xfrm>
            <a:off x="4793138" y="5158141"/>
            <a:ext cx="280751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21" name="직선 연결선 120"/>
          <p:cNvCxnSpPr/>
          <p:nvPr/>
        </p:nvCxnSpPr>
        <p:spPr bwMode="auto">
          <a:xfrm flipV="1">
            <a:off x="7603437" y="4749366"/>
            <a:ext cx="373901" cy="408776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22" name="직선 연결선 121"/>
          <p:cNvCxnSpPr/>
          <p:nvPr/>
        </p:nvCxnSpPr>
        <p:spPr bwMode="auto">
          <a:xfrm flipV="1">
            <a:off x="5337226" y="4797152"/>
            <a:ext cx="239038" cy="21656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23" name="Rectangle 177"/>
          <p:cNvSpPr>
            <a:spLocks noChangeArrowheads="1"/>
          </p:cNvSpPr>
          <p:nvPr/>
        </p:nvSpPr>
        <p:spPr bwMode="auto">
          <a:xfrm>
            <a:off x="2838950" y="4947176"/>
            <a:ext cx="1609706" cy="28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</a:t>
            </a:r>
            <a:r>
              <a:rPr lang="ko-KR" altLang="en-US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</a:t>
            </a:r>
            <a:r>
              <a:rPr lang="en-US" altLang="ko-KR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외부제어기는 수신만 </a:t>
            </a:r>
            <a:r>
              <a:rPr lang="ko-KR" altLang="en-US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수행</a:t>
            </a:r>
            <a:r>
              <a:rPr lang="en-US" altLang="ko-KR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</a:p>
        </p:txBody>
      </p:sp>
      <p:sp>
        <p:nvSpPr>
          <p:cNvPr id="125" name="오각형 124"/>
          <p:cNvSpPr/>
          <p:nvPr/>
        </p:nvSpPr>
        <p:spPr>
          <a:xfrm rot="10800000">
            <a:off x="2407298" y="5716005"/>
            <a:ext cx="2376878" cy="280937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26" name="직선 연결선 125"/>
          <p:cNvCxnSpPr/>
          <p:nvPr/>
        </p:nvCxnSpPr>
        <p:spPr bwMode="auto">
          <a:xfrm>
            <a:off x="4649203" y="5463777"/>
            <a:ext cx="170774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7" name="직선 연결선 126"/>
          <p:cNvCxnSpPr/>
          <p:nvPr/>
        </p:nvCxnSpPr>
        <p:spPr bwMode="auto">
          <a:xfrm>
            <a:off x="4618827" y="5573273"/>
            <a:ext cx="3859966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8" name="직선 연결선 127"/>
          <p:cNvCxnSpPr/>
          <p:nvPr/>
        </p:nvCxnSpPr>
        <p:spPr bwMode="auto">
          <a:xfrm flipV="1">
            <a:off x="6356949" y="5283079"/>
            <a:ext cx="164269" cy="18069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29" name="직선 연결선 128"/>
          <p:cNvCxnSpPr/>
          <p:nvPr/>
        </p:nvCxnSpPr>
        <p:spPr bwMode="auto">
          <a:xfrm flipV="1">
            <a:off x="8471176" y="5234653"/>
            <a:ext cx="327662" cy="33862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30" name="직선 연결선 129"/>
          <p:cNvCxnSpPr/>
          <p:nvPr/>
        </p:nvCxnSpPr>
        <p:spPr bwMode="auto">
          <a:xfrm>
            <a:off x="4787083" y="5788013"/>
            <a:ext cx="1641874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31" name="직선 연결선 130"/>
          <p:cNvCxnSpPr/>
          <p:nvPr/>
        </p:nvCxnSpPr>
        <p:spPr bwMode="auto">
          <a:xfrm>
            <a:off x="4787083" y="5920529"/>
            <a:ext cx="3591862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32" name="직선 연결선 131"/>
          <p:cNvCxnSpPr/>
          <p:nvPr/>
        </p:nvCxnSpPr>
        <p:spPr bwMode="auto">
          <a:xfrm flipV="1">
            <a:off x="8373173" y="5502667"/>
            <a:ext cx="412305" cy="41786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33" name="직선 연결선 132"/>
          <p:cNvCxnSpPr/>
          <p:nvPr/>
        </p:nvCxnSpPr>
        <p:spPr bwMode="auto">
          <a:xfrm flipV="1">
            <a:off x="6422316" y="5671837"/>
            <a:ext cx="119063" cy="12360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34" name="오각형 133"/>
          <p:cNvSpPr/>
          <p:nvPr/>
        </p:nvSpPr>
        <p:spPr>
          <a:xfrm>
            <a:off x="2394108" y="5397481"/>
            <a:ext cx="2376878" cy="227038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5" name="Rectangle 177"/>
          <p:cNvSpPr>
            <a:spLocks noChangeArrowheads="1"/>
          </p:cNvSpPr>
          <p:nvPr/>
        </p:nvSpPr>
        <p:spPr bwMode="auto">
          <a:xfrm>
            <a:off x="2814224" y="5363455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제어 요청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36" name="Rectangle 177"/>
          <p:cNvSpPr>
            <a:spLocks noChangeArrowheads="1"/>
          </p:cNvSpPr>
          <p:nvPr/>
        </p:nvSpPr>
        <p:spPr bwMode="auto">
          <a:xfrm>
            <a:off x="2833201" y="5701310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</a:t>
            </a:r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제어 응답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64" name="직사각형 16"/>
          <p:cNvSpPr>
            <a:spLocks noChangeArrowheads="1"/>
          </p:cNvSpPr>
          <p:nvPr/>
        </p:nvSpPr>
        <p:spPr bwMode="auto">
          <a:xfrm>
            <a:off x="1800657" y="1209172"/>
            <a:ext cx="1170130" cy="356125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70" name="직선 연결선 69"/>
          <p:cNvCxnSpPr/>
          <p:nvPr/>
        </p:nvCxnSpPr>
        <p:spPr bwMode="auto">
          <a:xfrm>
            <a:off x="4625849" y="6220236"/>
            <a:ext cx="74210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2" name="직선 연결선 71"/>
          <p:cNvCxnSpPr/>
          <p:nvPr/>
        </p:nvCxnSpPr>
        <p:spPr bwMode="auto">
          <a:xfrm flipV="1">
            <a:off x="4601875" y="6326914"/>
            <a:ext cx="3144020" cy="2166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3" name="직선 연결선 72"/>
          <p:cNvCxnSpPr/>
          <p:nvPr/>
        </p:nvCxnSpPr>
        <p:spPr bwMode="auto">
          <a:xfrm flipV="1">
            <a:off x="5366823" y="6049450"/>
            <a:ext cx="196251" cy="16365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93" name="직선 연결선 92"/>
          <p:cNvCxnSpPr/>
          <p:nvPr/>
        </p:nvCxnSpPr>
        <p:spPr bwMode="auto">
          <a:xfrm flipV="1">
            <a:off x="7737447" y="6095737"/>
            <a:ext cx="241155" cy="22948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97" name="오각형 96"/>
          <p:cNvSpPr/>
          <p:nvPr/>
        </p:nvSpPr>
        <p:spPr>
          <a:xfrm>
            <a:off x="2381811" y="6157683"/>
            <a:ext cx="2376878" cy="261131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7" name="Rectangle 177"/>
          <p:cNvSpPr>
            <a:spLocks noChangeArrowheads="1"/>
          </p:cNvSpPr>
          <p:nvPr/>
        </p:nvSpPr>
        <p:spPr bwMode="auto">
          <a:xfrm>
            <a:off x="2828019" y="6141301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확정 요청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8" name="굽은 화살표 107"/>
          <p:cNvSpPr/>
          <p:nvPr/>
        </p:nvSpPr>
        <p:spPr>
          <a:xfrm>
            <a:off x="522515" y="4941168"/>
            <a:ext cx="360040" cy="1384057"/>
          </a:xfrm>
          <a:prstGeom prst="bentArrow">
            <a:avLst>
              <a:gd name="adj1" fmla="val 29749"/>
              <a:gd name="adj2" fmla="val 32124"/>
              <a:gd name="adj3" fmla="val 25000"/>
              <a:gd name="adj4" fmla="val 17533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0" name="아래쪽 화살표 109"/>
          <p:cNvSpPr/>
          <p:nvPr/>
        </p:nvSpPr>
        <p:spPr>
          <a:xfrm rot="16200000">
            <a:off x="951316" y="5797907"/>
            <a:ext cx="220714" cy="1078317"/>
          </a:xfrm>
          <a:prstGeom prst="downArrow">
            <a:avLst>
              <a:gd name="adj1" fmla="val 50000"/>
              <a:gd name="adj2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1" name="Rectangle 177"/>
          <p:cNvSpPr>
            <a:spLocks noChangeArrowheads="1"/>
          </p:cNvSpPr>
          <p:nvPr/>
        </p:nvSpPr>
        <p:spPr bwMode="auto">
          <a:xfrm>
            <a:off x="863989" y="6147958"/>
            <a:ext cx="1381383" cy="348038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</a:t>
            </a:r>
            <a:r>
              <a:rPr lang="en-US" altLang="ko-KR" sz="1000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sz="1000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매 </a:t>
            </a:r>
            <a:r>
              <a:rPr lang="en-US" altLang="ko-KR" sz="1000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61</a:t>
            </a:r>
            <a:r>
              <a:rPr lang="ko-KR" altLang="en-US" sz="1000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초</a:t>
            </a:r>
            <a:r>
              <a:rPr lang="en-US" altLang="ko-KR" sz="1000" dirty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</a:p>
        </p:txBody>
      </p:sp>
      <p:sp>
        <p:nvSpPr>
          <p:cNvPr id="113" name="Rectangle 177"/>
          <p:cNvSpPr>
            <a:spLocks noChangeArrowheads="1"/>
          </p:cNvSpPr>
          <p:nvPr/>
        </p:nvSpPr>
        <p:spPr bwMode="auto">
          <a:xfrm>
            <a:off x="878197" y="1751193"/>
            <a:ext cx="1381383" cy="602106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확인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15" name="직선 연결선 114"/>
          <p:cNvCxnSpPr/>
          <p:nvPr/>
        </p:nvCxnSpPr>
        <p:spPr bwMode="auto">
          <a:xfrm>
            <a:off x="4625849" y="1877110"/>
            <a:ext cx="331817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6" name="직선 연결선 115"/>
          <p:cNvCxnSpPr/>
          <p:nvPr/>
        </p:nvCxnSpPr>
        <p:spPr bwMode="auto">
          <a:xfrm flipV="1">
            <a:off x="5349260" y="1592225"/>
            <a:ext cx="213815" cy="280829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17" name="직선 연결선 116"/>
          <p:cNvCxnSpPr/>
          <p:nvPr/>
        </p:nvCxnSpPr>
        <p:spPr bwMode="auto">
          <a:xfrm flipV="1">
            <a:off x="7737447" y="1608113"/>
            <a:ext cx="203849" cy="26774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4" name="왼쪽 화살표 13"/>
          <p:cNvSpPr/>
          <p:nvPr/>
        </p:nvSpPr>
        <p:spPr>
          <a:xfrm>
            <a:off x="2396976" y="2066276"/>
            <a:ext cx="2348207" cy="280239"/>
          </a:xfrm>
          <a:prstGeom prst="leftArrow">
            <a:avLst>
              <a:gd name="adj1" fmla="val 100000"/>
              <a:gd name="adj2" fmla="val 81272"/>
            </a:avLst>
          </a:prstGeom>
          <a:solidFill>
            <a:srgbClr val="F2F2F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r>
              <a:rPr lang="ko-KR" altLang="en-US" sz="10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                  실외기 주소 응답</a:t>
            </a:r>
          </a:p>
        </p:txBody>
      </p:sp>
      <p:cxnSp>
        <p:nvCxnSpPr>
          <p:cNvPr id="124" name="직선 연결선 123"/>
          <p:cNvCxnSpPr/>
          <p:nvPr/>
        </p:nvCxnSpPr>
        <p:spPr bwMode="auto">
          <a:xfrm>
            <a:off x="4775525" y="2147109"/>
            <a:ext cx="681220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38" name="직선 연결선 137"/>
          <p:cNvCxnSpPr/>
          <p:nvPr/>
        </p:nvCxnSpPr>
        <p:spPr bwMode="auto">
          <a:xfrm flipV="1">
            <a:off x="5460339" y="2002133"/>
            <a:ext cx="109224" cy="143071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40" name="직선 연결선 139"/>
          <p:cNvCxnSpPr/>
          <p:nvPr/>
        </p:nvCxnSpPr>
        <p:spPr bwMode="auto">
          <a:xfrm>
            <a:off x="4784176" y="2286363"/>
            <a:ext cx="289290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41" name="직선 연결선 140"/>
          <p:cNvCxnSpPr/>
          <p:nvPr/>
        </p:nvCxnSpPr>
        <p:spPr bwMode="auto">
          <a:xfrm flipV="1">
            <a:off x="7683626" y="1956533"/>
            <a:ext cx="268985" cy="33384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14" name="오각형 113"/>
          <p:cNvSpPr/>
          <p:nvPr/>
        </p:nvSpPr>
        <p:spPr>
          <a:xfrm>
            <a:off x="2389791" y="1751984"/>
            <a:ext cx="2376878" cy="225027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주소 요청</a:t>
            </a:r>
          </a:p>
        </p:txBody>
      </p:sp>
      <p:sp>
        <p:nvSpPr>
          <p:cNvPr id="142" name="Rectangle 177"/>
          <p:cNvSpPr>
            <a:spLocks noChangeArrowheads="1"/>
          </p:cNvSpPr>
          <p:nvPr/>
        </p:nvSpPr>
        <p:spPr bwMode="auto">
          <a:xfrm>
            <a:off x="876461" y="4171118"/>
            <a:ext cx="1381383" cy="623393"/>
          </a:xfrm>
          <a:prstGeom prst="rect">
            <a:avLst/>
          </a:prstGeom>
          <a:solidFill>
            <a:schemeClr val="tx2"/>
          </a:solidFill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주소 확인</a:t>
            </a:r>
            <a:endParaRPr lang="en-US" altLang="ko-KR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43" name="오각형 142"/>
          <p:cNvSpPr/>
          <p:nvPr/>
        </p:nvSpPr>
        <p:spPr>
          <a:xfrm rot="10800000">
            <a:off x="2414435" y="4477006"/>
            <a:ext cx="2376878" cy="320145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44" name="직선 연결선 143"/>
          <p:cNvCxnSpPr/>
          <p:nvPr/>
        </p:nvCxnSpPr>
        <p:spPr bwMode="auto">
          <a:xfrm>
            <a:off x="4631832" y="4293096"/>
            <a:ext cx="3033369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6" name="직선 연결선 145"/>
          <p:cNvCxnSpPr/>
          <p:nvPr/>
        </p:nvCxnSpPr>
        <p:spPr bwMode="auto">
          <a:xfrm flipV="1">
            <a:off x="5332311" y="4044510"/>
            <a:ext cx="236746" cy="24354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47" name="직선 연결선 146"/>
          <p:cNvCxnSpPr/>
          <p:nvPr/>
        </p:nvCxnSpPr>
        <p:spPr bwMode="auto">
          <a:xfrm>
            <a:off x="4791887" y="4562362"/>
            <a:ext cx="550143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48" name="직선 연결선 147"/>
          <p:cNvCxnSpPr/>
          <p:nvPr/>
        </p:nvCxnSpPr>
        <p:spPr bwMode="auto">
          <a:xfrm>
            <a:off x="4796673" y="4719692"/>
            <a:ext cx="280397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none" w="med" len="med"/>
          </a:ln>
          <a:effectLst/>
        </p:spPr>
      </p:cxnSp>
      <p:cxnSp>
        <p:nvCxnSpPr>
          <p:cNvPr id="149" name="직선 연결선 148"/>
          <p:cNvCxnSpPr/>
          <p:nvPr/>
        </p:nvCxnSpPr>
        <p:spPr bwMode="auto">
          <a:xfrm flipV="1">
            <a:off x="7606972" y="4314944"/>
            <a:ext cx="357104" cy="404748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cxnSp>
        <p:nvCxnSpPr>
          <p:cNvPr id="150" name="직선 연결선 149"/>
          <p:cNvCxnSpPr/>
          <p:nvPr/>
        </p:nvCxnSpPr>
        <p:spPr bwMode="auto">
          <a:xfrm flipV="1">
            <a:off x="5342030" y="4349828"/>
            <a:ext cx="225848" cy="212534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lg" len="lg"/>
          </a:ln>
          <a:effectLst/>
        </p:spPr>
      </p:cxnSp>
      <p:sp>
        <p:nvSpPr>
          <p:cNvPr id="151" name="오각형 150"/>
          <p:cNvSpPr/>
          <p:nvPr/>
        </p:nvSpPr>
        <p:spPr>
          <a:xfrm>
            <a:off x="2401245" y="4169434"/>
            <a:ext cx="2376878" cy="244473"/>
          </a:xfrm>
          <a:prstGeom prst="homePlate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2" name="Rectangle 177"/>
          <p:cNvSpPr>
            <a:spLocks noChangeArrowheads="1"/>
          </p:cNvSpPr>
          <p:nvPr/>
        </p:nvSpPr>
        <p:spPr bwMode="auto">
          <a:xfrm>
            <a:off x="2847453" y="4130913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주소 요청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53" name="Rectangle 177"/>
          <p:cNvSpPr>
            <a:spLocks noChangeArrowheads="1"/>
          </p:cNvSpPr>
          <p:nvPr/>
        </p:nvSpPr>
        <p:spPr bwMode="auto">
          <a:xfrm>
            <a:off x="2846087" y="4482476"/>
            <a:ext cx="1399858" cy="312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ko-KR" altLang="en-US" sz="975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주소 응답</a:t>
            </a:r>
            <a:endParaRPr lang="en-US" altLang="ko-KR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54" name="직선 연결선 153"/>
          <p:cNvCxnSpPr/>
          <p:nvPr/>
        </p:nvCxnSpPr>
        <p:spPr bwMode="auto">
          <a:xfrm flipV="1">
            <a:off x="7665201" y="3993772"/>
            <a:ext cx="286067" cy="294282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sp>
        <p:nvSpPr>
          <p:cNvPr id="180" name="아래쪽 화살표 179"/>
          <p:cNvSpPr/>
          <p:nvPr/>
        </p:nvSpPr>
        <p:spPr>
          <a:xfrm>
            <a:off x="1440907" y="2348548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1" name="아래쪽 화살표 180"/>
          <p:cNvSpPr/>
          <p:nvPr/>
        </p:nvSpPr>
        <p:spPr>
          <a:xfrm>
            <a:off x="1461644" y="4007284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2" name="아래쪽 화살표 181"/>
          <p:cNvSpPr/>
          <p:nvPr/>
        </p:nvSpPr>
        <p:spPr>
          <a:xfrm>
            <a:off x="1464132" y="4792211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아래쪽 화살표 182"/>
          <p:cNvSpPr/>
          <p:nvPr/>
        </p:nvSpPr>
        <p:spPr>
          <a:xfrm>
            <a:off x="1461644" y="5238317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6" name="아래쪽 화살표 185"/>
          <p:cNvSpPr/>
          <p:nvPr/>
        </p:nvSpPr>
        <p:spPr>
          <a:xfrm>
            <a:off x="1468512" y="6000727"/>
            <a:ext cx="234026" cy="164994"/>
          </a:xfrm>
          <a:prstGeom prst="downArrow">
            <a:avLst/>
          </a:prstGeom>
          <a:ln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TextBox 187"/>
          <p:cNvSpPr txBox="1"/>
          <p:nvPr/>
        </p:nvSpPr>
        <p:spPr>
          <a:xfrm>
            <a:off x="272480" y="801974"/>
            <a:ext cx="117051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전체 </a:t>
            </a:r>
            <a:r>
              <a:rPr kumimoji="1"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Flow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03451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/>
          </p:cNvSpPr>
          <p:nvPr/>
        </p:nvSpPr>
        <p:spPr>
          <a:xfrm>
            <a:off x="3572" y="0"/>
            <a:ext cx="9906000" cy="68580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95285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90570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485854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981139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주소 확인</a:t>
            </a:r>
            <a:endParaRPr lang="en-US" altLang="ko-KR" sz="6000" kern="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96995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3633777"/>
              </p:ext>
            </p:extLst>
          </p:nvPr>
        </p:nvGraphicFramePr>
        <p:xfrm>
          <a:off x="560512" y="1671758"/>
          <a:ext cx="8712968" cy="775985"/>
        </p:xfrm>
        <a:graphic>
          <a:graphicData uri="http://schemas.openxmlformats.org/drawingml/2006/table">
            <a:tbl>
              <a:tblPr/>
              <a:tblGrid>
                <a:gridCol w="99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1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85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Preamble</a:t>
                      </a:r>
                      <a:endParaRPr lang="en-US" sz="12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55H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(100 bytes)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00 14</a:t>
                      </a: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6A EE FF</a:t>
                      </a: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B0 FF FF</a:t>
                      </a: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C0 01 01</a:t>
                      </a:r>
                      <a:endParaRPr lang="en-US" sz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01</a:t>
                      </a:r>
                      <a:endParaRPr lang="en-US" sz="12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dirty="0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 08 FF </a:t>
                      </a:r>
                      <a:r>
                        <a:rPr lang="en-US" altLang="ko-KR" sz="1200" b="0" dirty="0" err="1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</a:t>
                      </a:r>
                      <a:r>
                        <a:rPr lang="en-US" altLang="ko-KR" sz="1200" b="0" dirty="0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dirty="0" err="1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</a:t>
                      </a:r>
                      <a:r>
                        <a:rPr lang="en-US" altLang="ko-KR" sz="1200" b="0" dirty="0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200" b="0" dirty="0" err="1" smtClean="0">
                          <a:solidFill>
                            <a:schemeClr val="tx2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FF</a:t>
                      </a:r>
                      <a:endParaRPr lang="en-US" altLang="ko-KR" sz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r>
                        <a:rPr lang="en-US" altLang="ko-KR" sz="1200" baseline="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1C</a:t>
                      </a:r>
                      <a:endParaRPr lang="en-US" altLang="ko-KR" sz="12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34</a:t>
                      </a:r>
                    </a:p>
                  </a:txBody>
                  <a:tcPr marL="26562" marR="26562" marT="26562" marB="26562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717264" y="2612986"/>
            <a:ext cx="6756016" cy="2616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) 32 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6A EE FF B0 FF 10 C0 11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01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04 08 FF </a:t>
            </a:r>
            <a:r>
              <a:rPr lang="en-US" altLang="ko-KR" sz="1100" b="0" dirty="0" err="1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FF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err="1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FF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err="1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FF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C3 F8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 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8548475" y="1412776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72480" y="801974"/>
            <a:ext cx="3805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→ 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주소 요청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585996" y="1135777"/>
            <a:ext cx="8837534" cy="310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다음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패킷을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 간격으로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10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번 보낸다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3589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026580"/>
              </p:ext>
            </p:extLst>
          </p:nvPr>
        </p:nvGraphicFramePr>
        <p:xfrm>
          <a:off x="702186" y="1563131"/>
          <a:ext cx="8279989" cy="702078"/>
        </p:xfrm>
        <a:graphic>
          <a:graphicData uri="http://schemas.openxmlformats.org/drawingml/2006/table">
            <a:tbl>
              <a:tblPr/>
              <a:tblGrid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2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1914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10 xx 00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05 01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08 00 10 xx</a:t>
                      </a:r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2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8248906" y="1282986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1782306" y="2324785"/>
            <a:ext cx="1633388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xx :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37372" y="2996952"/>
            <a:ext cx="6119501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Ex)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32 00 14 10 00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>
                <a:solidFill>
                  <a:srgbClr val="0000FF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00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3C</a:t>
            </a:r>
            <a:r>
              <a:rPr lang="ko-KR" altLang="en-US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4D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</a:t>
            </a: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01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>
                <a:solidFill>
                  <a:srgbClr val="0000FF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A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1 80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 </a:t>
            </a: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02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>
                <a:solidFill>
                  <a:srgbClr val="0000FF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02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00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17 F6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 </a:t>
            </a:r>
            <a:endParaRPr lang="es-E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03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>
                <a:solidFill>
                  <a:srgbClr val="0000FF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03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00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8A 3B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</a:t>
            </a:r>
            <a:endParaRPr lang="en-U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32520" y="2719519"/>
            <a:ext cx="741083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xx</a:t>
            </a:r>
            <a:r>
              <a:rPr lang="ko-KR" altLang="en-US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는 </a:t>
            </a:r>
            <a:r>
              <a:rPr lang="en-US" altLang="ko-KR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00~0F </a:t>
            </a:r>
            <a:r>
              <a:rPr lang="ko-KR" altLang="en-US" sz="1100" b="0" dirty="0" err="1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범위이어야</a:t>
            </a:r>
            <a:r>
              <a:rPr lang="ko-KR" altLang="en-US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하고</a:t>
            </a:r>
            <a:r>
              <a:rPr lang="en-US" altLang="ko-KR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</a:t>
            </a:r>
            <a:r>
              <a:rPr lang="en-US" altLang="ko-KR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FF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일 경우 실외기 </a:t>
            </a:r>
            <a:r>
              <a:rPr lang="ko-KR" altLang="en-US" sz="1100" b="0" dirty="0" err="1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자동주소</a:t>
            </a:r>
            <a:r>
              <a:rPr lang="ko-KR" altLang="en-US" sz="1100" b="0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설정 상태</a:t>
            </a:r>
            <a:r>
              <a:rPr lang="ko-KR" altLang="en-US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이므로 </a:t>
            </a:r>
            <a:r>
              <a:rPr lang="ko-KR" altLang="en-US" sz="1100" b="0" dirty="0" err="1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수동주소로</a:t>
            </a:r>
            <a:r>
              <a:rPr lang="ko-KR" altLang="en-US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변경한다 </a:t>
            </a:r>
            <a:r>
              <a:rPr lang="en-US" altLang="ko-KR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제조사에 문의</a:t>
            </a:r>
            <a:r>
              <a:rPr lang="en-US" altLang="ko-KR" sz="1100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100" b="0" dirty="0" smtClean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2520" y="3981714"/>
            <a:ext cx="7410834" cy="310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00"/>
              </a:lnSpc>
            </a:pPr>
            <a:r>
              <a:rPr lang="en-US" altLang="ko-KR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xx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는 중복이 되어서는 안된다</a:t>
            </a:r>
            <a:r>
              <a:rPr lang="en-US" altLang="ko-KR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 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중복</a:t>
            </a:r>
            <a:r>
              <a:rPr lang="en-US" altLang="ko-KR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시에 실외기 주소를 </a:t>
            </a:r>
            <a:r>
              <a:rPr lang="ko-KR" altLang="en-US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겹치지</a:t>
            </a:r>
            <a:r>
              <a:rPr lang="ko-KR" altLang="en-US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않게 설정한다</a:t>
            </a:r>
            <a:r>
              <a:rPr lang="en-US" altLang="ko-KR" sz="1100" b="0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ko-KR" altLang="en-US" sz="1100" b="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639895" y="4243735"/>
            <a:ext cx="6119501" cy="7694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Ex)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32 00 14 10 00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01 04 08 00 10 00 00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3C</a:t>
            </a:r>
            <a:r>
              <a:rPr lang="ko-KR" altLang="en-US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4D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</a:t>
            </a: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01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01 04 08 00 10 01 00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A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1 80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 </a:t>
            </a: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02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 smtClean="0">
                <a:solidFill>
                  <a:srgbClr val="FF0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02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00 17 F6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 </a:t>
            </a:r>
            <a:endParaRPr lang="es-E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  <a:p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 32 00 14 10 03 00 6A EE FF C0 05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01 04 08 00 10 </a:t>
            </a:r>
            <a:r>
              <a:rPr lang="es-ES" altLang="ko-KR" sz="1100" dirty="0" smtClean="0">
                <a:solidFill>
                  <a:srgbClr val="FF0000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02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</a:t>
            </a:r>
            <a:r>
              <a:rPr lang="es-E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B9 0A </a:t>
            </a:r>
            <a:r>
              <a:rPr lang="es-E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</a:t>
            </a:r>
            <a:endParaRPr lang="en-U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2480" y="801974"/>
            <a:ext cx="3861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주소 응답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85996" y="1135777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설치된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실외기의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주소가 수동주소인지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중복되었는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지 확인한다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027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/>
          </p:cNvSpPr>
          <p:nvPr/>
        </p:nvSpPr>
        <p:spPr>
          <a:xfrm>
            <a:off x="3572" y="0"/>
            <a:ext cx="9906000" cy="68580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95285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90570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485854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981139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en-US" altLang="ko-KR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Addressing</a:t>
            </a:r>
            <a:endParaRPr lang="en-US" altLang="ko-KR" sz="6000" kern="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14346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4640965" y="1435134"/>
            <a:ext cx="1326147" cy="4096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algn="ctr"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#0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7371269" y="1435134"/>
            <a:ext cx="1326147" cy="409689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algn="ctr">
              <a:defRPr/>
            </a:pP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#1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28" name="직선 연결선 27"/>
          <p:cNvCxnSpPr/>
          <p:nvPr/>
        </p:nvCxnSpPr>
        <p:spPr bwMode="auto">
          <a:xfrm>
            <a:off x="2302940" y="1484784"/>
            <a:ext cx="0" cy="47301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직사각형 16"/>
          <p:cNvSpPr>
            <a:spLocks noChangeArrowheads="1"/>
          </p:cNvSpPr>
          <p:nvPr/>
        </p:nvSpPr>
        <p:spPr bwMode="auto">
          <a:xfrm>
            <a:off x="1676636" y="1454781"/>
            <a:ext cx="1170130" cy="39004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/>
          <a:p>
            <a:pPr algn="ctr"/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294828" y="1994767"/>
            <a:ext cx="4248472" cy="1824198"/>
          </a:xfrm>
          <a:prstGeom prst="roundRect">
            <a:avLst>
              <a:gd name="adj" fmla="val 5175"/>
            </a:avLst>
          </a:prstGeom>
          <a:solidFill>
            <a:srgbClr val="FF0000">
              <a:alpha val="10000"/>
            </a:srgbClr>
          </a:solidFill>
          <a:ln w="28575">
            <a:solidFill>
              <a:srgbClr val="FF0000"/>
            </a:solidFill>
            <a:prstDash val="sysDot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1294828" y="3928167"/>
            <a:ext cx="6984776" cy="1796972"/>
          </a:xfrm>
          <a:prstGeom prst="roundRect">
            <a:avLst>
              <a:gd name="adj" fmla="val 5175"/>
            </a:avLst>
          </a:prstGeom>
          <a:solidFill>
            <a:srgbClr val="FF0000">
              <a:alpha val="10000"/>
            </a:srgbClr>
          </a:solidFill>
          <a:ln w="28575">
            <a:solidFill>
              <a:srgbClr val="FF0000"/>
            </a:solidFill>
            <a:prstDash val="sysDot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536966" y="1983950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2004 00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51" name="직선 화살표 연결선 50"/>
          <p:cNvCxnSpPr/>
          <p:nvPr/>
        </p:nvCxnSpPr>
        <p:spPr bwMode="auto">
          <a:xfrm>
            <a:off x="2302940" y="2226579"/>
            <a:ext cx="3044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cxnSp>
        <p:nvCxnSpPr>
          <p:cNvPr id="52" name="직선 화살표 연결선 51"/>
          <p:cNvCxnSpPr/>
          <p:nvPr/>
        </p:nvCxnSpPr>
        <p:spPr bwMode="auto">
          <a:xfrm>
            <a:off x="2302940" y="2661574"/>
            <a:ext cx="3044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4535188" y="2415998"/>
            <a:ext cx="7793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rgbClr val="C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2004 01</a:t>
            </a:r>
            <a:endParaRPr lang="ko-KR" altLang="en-US" sz="1300" dirty="0">
              <a:solidFill>
                <a:srgbClr val="C0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54" name="직선 화살표 연결선 53"/>
          <p:cNvCxnSpPr/>
          <p:nvPr/>
        </p:nvCxnSpPr>
        <p:spPr bwMode="auto">
          <a:xfrm>
            <a:off x="2302940" y="3162293"/>
            <a:ext cx="3044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2536966" y="2920054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2004 03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57" name="직선 화살표 연결선 56"/>
          <p:cNvCxnSpPr/>
          <p:nvPr/>
        </p:nvCxnSpPr>
        <p:spPr bwMode="auto">
          <a:xfrm>
            <a:off x="2302940" y="3548868"/>
            <a:ext cx="3051747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59" name="TextBox 58"/>
          <p:cNvSpPr txBox="1"/>
          <p:nvPr/>
        </p:nvSpPr>
        <p:spPr>
          <a:xfrm>
            <a:off x="4346669" y="3314842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rgbClr val="C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2004 04</a:t>
            </a:r>
            <a:endParaRPr lang="ko-KR" altLang="en-US" sz="1300" dirty="0">
              <a:solidFill>
                <a:srgbClr val="C0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61" name="직선 연결선 60"/>
          <p:cNvCxnSpPr/>
          <p:nvPr/>
        </p:nvCxnSpPr>
        <p:spPr bwMode="auto">
          <a:xfrm>
            <a:off x="5347340" y="1901585"/>
            <a:ext cx="14694" cy="45245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64" name="직선 연결선 63"/>
          <p:cNvCxnSpPr/>
          <p:nvPr/>
        </p:nvCxnSpPr>
        <p:spPr bwMode="auto">
          <a:xfrm>
            <a:off x="8077643" y="1901585"/>
            <a:ext cx="0" cy="452450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72" name="모서리가 둥근 직사각형 71"/>
          <p:cNvSpPr/>
          <p:nvPr/>
        </p:nvSpPr>
        <p:spPr>
          <a:xfrm>
            <a:off x="1452907" y="2183049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1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1452907" y="2617733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2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452907" y="3037538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3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80" name="모서리가 둥근 직사각형 79"/>
          <p:cNvSpPr/>
          <p:nvPr/>
        </p:nvSpPr>
        <p:spPr>
          <a:xfrm>
            <a:off x="1452907" y="3435814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4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81" name="직선 화살표 연결선 80"/>
          <p:cNvCxnSpPr/>
          <p:nvPr/>
        </p:nvCxnSpPr>
        <p:spPr bwMode="auto">
          <a:xfrm>
            <a:off x="2302940" y="4679614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7212191" y="4422728"/>
            <a:ext cx="7793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rgbClr val="C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2004 01</a:t>
            </a:r>
            <a:endParaRPr lang="ko-KR" altLang="en-US" sz="1300" dirty="0">
              <a:solidFill>
                <a:srgbClr val="C0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2536966" y="4793924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2004 03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88" name="직선 화살표 연결선 87"/>
          <p:cNvCxnSpPr/>
          <p:nvPr/>
        </p:nvCxnSpPr>
        <p:spPr bwMode="auto">
          <a:xfrm>
            <a:off x="2302940" y="5487954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89" name="TextBox 88"/>
          <p:cNvSpPr txBox="1"/>
          <p:nvPr/>
        </p:nvSpPr>
        <p:spPr>
          <a:xfrm>
            <a:off x="7242521" y="5225972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rgbClr val="C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2004 04</a:t>
            </a:r>
            <a:endParaRPr lang="ko-KR" altLang="en-US" sz="1300" dirty="0">
              <a:solidFill>
                <a:srgbClr val="C0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96" name="모서리가 둥근 직사각형 95"/>
          <p:cNvSpPr/>
          <p:nvPr/>
        </p:nvSpPr>
        <p:spPr>
          <a:xfrm>
            <a:off x="1452907" y="4559303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2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97" name="모서리가 둥근 직사각형 96"/>
          <p:cNvSpPr/>
          <p:nvPr/>
        </p:nvSpPr>
        <p:spPr>
          <a:xfrm>
            <a:off x="1452907" y="4956419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3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98" name="모서리가 둥근 직사각형 97"/>
          <p:cNvSpPr/>
          <p:nvPr/>
        </p:nvSpPr>
        <p:spPr>
          <a:xfrm>
            <a:off x="1452907" y="5352175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4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99" name="직선 화살표 연결선 98"/>
          <p:cNvCxnSpPr/>
          <p:nvPr/>
        </p:nvCxnSpPr>
        <p:spPr bwMode="auto">
          <a:xfrm flipH="1">
            <a:off x="2302941" y="5056796"/>
            <a:ext cx="5774702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100" name="타원 99"/>
          <p:cNvSpPr/>
          <p:nvPr/>
        </p:nvSpPr>
        <p:spPr>
          <a:xfrm>
            <a:off x="1726876" y="6300936"/>
            <a:ext cx="72008" cy="72008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1" name="타원 100"/>
          <p:cNvSpPr/>
          <p:nvPr/>
        </p:nvSpPr>
        <p:spPr>
          <a:xfrm>
            <a:off x="1726876" y="6453336"/>
            <a:ext cx="72008" cy="72008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02" name="직선 화살표 연결선 101"/>
          <p:cNvCxnSpPr/>
          <p:nvPr/>
        </p:nvCxnSpPr>
        <p:spPr bwMode="auto">
          <a:xfrm>
            <a:off x="2302940" y="2415998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cxnSp>
        <p:nvCxnSpPr>
          <p:cNvPr id="103" name="직선 화살표 연결선 102"/>
          <p:cNvCxnSpPr/>
          <p:nvPr/>
        </p:nvCxnSpPr>
        <p:spPr bwMode="auto">
          <a:xfrm>
            <a:off x="2302940" y="2848046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C00000"/>
            </a:solidFill>
            <a:prstDash val="solid"/>
            <a:round/>
            <a:headEnd type="triangle" w="lg" len="lg"/>
            <a:tailEnd type="oval" w="lg" len="lg"/>
          </a:ln>
          <a:effectLst/>
        </p:spPr>
      </p:cxnSp>
      <p:sp>
        <p:nvSpPr>
          <p:cNvPr id="104" name="TextBox 103"/>
          <p:cNvSpPr txBox="1"/>
          <p:nvPr/>
        </p:nvSpPr>
        <p:spPr>
          <a:xfrm>
            <a:off x="7271492" y="2600685"/>
            <a:ext cx="7793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2004 01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2536966" y="3928166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2004 00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06" name="직선 화살표 연결선 105"/>
          <p:cNvCxnSpPr/>
          <p:nvPr/>
        </p:nvCxnSpPr>
        <p:spPr bwMode="auto">
          <a:xfrm>
            <a:off x="2302940" y="4186035"/>
            <a:ext cx="3044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sp>
        <p:nvSpPr>
          <p:cNvPr id="107" name="모서리가 둥근 직사각형 106"/>
          <p:cNvSpPr/>
          <p:nvPr/>
        </p:nvSpPr>
        <p:spPr>
          <a:xfrm>
            <a:off x="1452907" y="4155205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1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08" name="직선 화살표 연결선 107"/>
          <p:cNvCxnSpPr/>
          <p:nvPr/>
        </p:nvCxnSpPr>
        <p:spPr bwMode="auto">
          <a:xfrm>
            <a:off x="2302940" y="4375454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sp>
        <p:nvSpPr>
          <p:cNvPr id="109" name="TextBox 108"/>
          <p:cNvSpPr txBox="1"/>
          <p:nvPr/>
        </p:nvSpPr>
        <p:spPr>
          <a:xfrm>
            <a:off x="2538644" y="5728366"/>
            <a:ext cx="82105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2004 00</a:t>
            </a:r>
            <a:endParaRPr lang="ko-KR" altLang="en-US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10" name="직선 화살표 연결선 109"/>
          <p:cNvCxnSpPr/>
          <p:nvPr/>
        </p:nvCxnSpPr>
        <p:spPr bwMode="auto">
          <a:xfrm>
            <a:off x="2304618" y="5970995"/>
            <a:ext cx="3044400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sp>
        <p:nvSpPr>
          <p:cNvPr id="111" name="모서리가 둥근 직사각형 110"/>
          <p:cNvSpPr/>
          <p:nvPr/>
        </p:nvSpPr>
        <p:spPr>
          <a:xfrm>
            <a:off x="1454585" y="5927004"/>
            <a:ext cx="616007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1</a:t>
            </a:r>
            <a:endParaRPr lang="ko-KR" altLang="en-US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112" name="직선 화살표 연결선 111"/>
          <p:cNvCxnSpPr/>
          <p:nvPr/>
        </p:nvCxnSpPr>
        <p:spPr bwMode="auto">
          <a:xfrm>
            <a:off x="2304618" y="6160414"/>
            <a:ext cx="5774703" cy="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oval" w="lg" len="lg"/>
            <a:tailEnd type="triangle" w="lg" len="lg"/>
          </a:ln>
          <a:effectLst/>
        </p:spPr>
      </p:cxnSp>
      <p:sp>
        <p:nvSpPr>
          <p:cNvPr id="113" name="직사각형 112"/>
          <p:cNvSpPr/>
          <p:nvPr/>
        </p:nvSpPr>
        <p:spPr>
          <a:xfrm>
            <a:off x="606327" y="1120388"/>
            <a:ext cx="7601269" cy="2923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ko-KR" sz="13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- Addressing</a:t>
            </a:r>
            <a:r>
              <a:rPr lang="ko-KR" altLang="en-US" sz="13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절차를  반드시 수행해야만  에어컨 </a:t>
            </a:r>
            <a:r>
              <a:rPr lang="ko-KR" altLang="en-US" sz="1300" dirty="0" err="1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실외기는</a:t>
            </a:r>
            <a:r>
              <a:rPr lang="ko-KR" altLang="en-US" sz="13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데이터 통신이 가능해진다</a:t>
            </a:r>
            <a:r>
              <a:rPr lang="en-US" altLang="ko-KR" sz="13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sz="1300" dirty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14" name="폭발 1 113"/>
          <p:cNvSpPr/>
          <p:nvPr/>
        </p:nvSpPr>
        <p:spPr>
          <a:xfrm>
            <a:off x="6177136" y="1021478"/>
            <a:ext cx="931225" cy="560711"/>
          </a:xfrm>
          <a:prstGeom prst="irregularSeal1">
            <a:avLst/>
          </a:prstGeom>
          <a:solidFill>
            <a:srgbClr val="FF0000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r>
              <a:rPr lang="ko-KR" altLang="en-US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중요 </a:t>
            </a:r>
            <a:r>
              <a:rPr lang="en-US" altLang="ko-KR" sz="10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!</a:t>
            </a:r>
            <a:endParaRPr lang="ko-KR" altLang="en-US" sz="100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72480" y="801974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상세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Sequence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7476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/>
        </p:nvSpPr>
        <p:spPr>
          <a:xfrm>
            <a:off x="585996" y="1077560"/>
            <a:ext cx="586357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주소 등록이 필요한 지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요청</a:t>
            </a:r>
            <a:endParaRPr lang="en-US" altLang="ko-KR" sz="130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graphicFrame>
        <p:nvGraphicFramePr>
          <p:cNvPr id="15" name="표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365424"/>
              </p:ext>
            </p:extLst>
          </p:nvPr>
        </p:nvGraphicFramePr>
        <p:xfrm>
          <a:off x="667623" y="1527742"/>
          <a:ext cx="8658614" cy="823990"/>
        </p:xfrm>
        <a:graphic>
          <a:graphicData uri="http://schemas.openxmlformats.org/drawingml/2006/table">
            <a:tbl>
              <a:tblPr/>
              <a:tblGrid>
                <a:gridCol w="86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1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2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1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51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Preamble</a:t>
                      </a:r>
                      <a:endParaRPr 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05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55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(100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11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B0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FF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14 00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20 04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00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757068"/>
              </p:ext>
            </p:extLst>
          </p:nvPr>
        </p:nvGraphicFramePr>
        <p:xfrm>
          <a:off x="2683498" y="2823886"/>
          <a:ext cx="5604623" cy="864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683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7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55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416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6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실외기에게 주소 등록이 필요한 지 문의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589266" y="3789040"/>
            <a:ext cx="5269391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Ex) 32 </a:t>
            </a:r>
            <a:r>
              <a:rPr lang="en-US" altLang="ko-KR" sz="1083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11 6A EE FF B0 FF FF C0 14 </a:t>
            </a:r>
            <a:r>
              <a:rPr lang="en-US" altLang="ko-KR" sz="1083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</a:t>
            </a:r>
            <a:r>
              <a:rPr lang="en-US" altLang="ko-KR" sz="1083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01 20 04 00 </a:t>
            </a:r>
            <a:r>
              <a:rPr lang="en-US" altLang="ko-KR" sz="1083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41 A3 34 </a:t>
            </a:r>
            <a:endParaRPr lang="en-US" altLang="ko-KR" sz="1083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60512" y="4297919"/>
            <a:ext cx="909576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ts val="1800"/>
              </a:lnSpc>
            </a:pP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실외기는 </a:t>
            </a:r>
            <a:r>
              <a:rPr lang="en-US" altLang="ko-KR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</a:t>
            </a:r>
            <a:r>
              <a:rPr lang="ko-KR" altLang="en-US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이 </a:t>
            </a:r>
            <a:r>
              <a:rPr lang="ko-KR" altLang="en-US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완전히 완료된 후에 통신을 시작한다</a:t>
            </a: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 lvl="0">
              <a:lnSpc>
                <a:spcPts val="1800"/>
              </a:lnSpc>
            </a:pP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따라서 </a:t>
            </a: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 </a:t>
            </a:r>
            <a:r>
              <a:rPr lang="ko-KR" altLang="en-US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을 시작하기 위해 </a:t>
            </a:r>
            <a:r>
              <a:rPr lang="en-US" altLang="ko-KR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</a:t>
            </a:r>
            <a:r>
              <a:rPr lang="ko-KR" altLang="en-US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보내야 한다</a:t>
            </a: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 lvl="0">
              <a:lnSpc>
                <a:spcPts val="1800"/>
              </a:lnSpc>
            </a:pPr>
            <a:r>
              <a:rPr lang="en-US" altLang="ko-KR" dirty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만약 </a:t>
            </a:r>
            <a:r>
              <a:rPr lang="en-US" altLang="ko-KR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전송한 후 </a:t>
            </a:r>
            <a:r>
              <a:rPr lang="en-US" altLang="ko-KR" u="sng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3</a:t>
            </a:r>
            <a:r>
              <a:rPr lang="ko-KR" altLang="en-US" u="sng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초 안에</a:t>
            </a:r>
            <a:r>
              <a:rPr lang="ko-KR" altLang="en-US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모든 </a:t>
            </a:r>
            <a:r>
              <a:rPr lang="ko-KR" altLang="en-US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실외기로부터 </a:t>
            </a:r>
            <a:r>
              <a:rPr lang="en-US" altLang="ko-KR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step2 </a:t>
            </a:r>
            <a:r>
              <a:rPr lang="ko-KR" altLang="en-US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수신하지 않으면</a:t>
            </a:r>
            <a:r>
              <a:rPr lang="en-US" altLang="ko-KR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Addressing </a:t>
            </a:r>
            <a:r>
              <a:rPr lang="ko-KR" altLang="en-US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을 완료하고 시스템 설치 점검 단계를 진행한다</a:t>
            </a:r>
            <a:r>
              <a:rPr lang="en-US" altLang="ko-KR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 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단계 및 설치 점검 단계를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완료하고 정상상태 후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외부제어기는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매 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61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초마다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전송한다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dirty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lnSpc>
                <a:spcPts val="1800"/>
              </a:lnSpc>
            </a:pP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   정상 통신 중 실외기 정전 또는 리셋 시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실외기는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통신 대기 상태가 되므로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,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외부제어기는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주기적으로 전송하여</a:t>
            </a:r>
            <a:endParaRPr lang="en-US" altLang="ko-KR" dirty="0" smtClean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>
              <a:lnSpc>
                <a:spcPts val="1800"/>
              </a:lnSpc>
            </a:pP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 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주소 등록을 해야만 정상 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통신을 수행할 수 있다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dirty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1716343" y="3795608"/>
            <a:ext cx="744713" cy="230735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461054" y="3795608"/>
            <a:ext cx="739553" cy="23073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4180919" y="3805759"/>
            <a:ext cx="744713" cy="230735"/>
          </a:xfrm>
          <a:prstGeom prst="rect">
            <a:avLst/>
          </a:prstGeom>
          <a:solidFill>
            <a:srgbClr val="00FF00">
              <a:alpha val="29804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78844" y="2351845"/>
            <a:ext cx="2956749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Preamble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은 통신 채널을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override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하기 위하여 필요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8576153" y="1268760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2480" y="801974"/>
            <a:ext cx="29915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                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</a:t>
            </a:r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344488" y="858709"/>
            <a:ext cx="628120" cy="22459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 1</a:t>
            </a:r>
            <a:endParaRPr lang="ko-KR" altLang="en-US" sz="1400" dirty="0">
              <a:solidFill>
                <a:schemeClr val="bg1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cxnSp>
        <p:nvCxnSpPr>
          <p:cNvPr id="3" name="직선 연결선 2"/>
          <p:cNvCxnSpPr/>
          <p:nvPr/>
        </p:nvCxnSpPr>
        <p:spPr bwMode="auto">
          <a:xfrm flipH="1">
            <a:off x="2683498" y="2351732"/>
            <a:ext cx="2629542" cy="4721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직선 연결선 26"/>
          <p:cNvCxnSpPr/>
          <p:nvPr/>
        </p:nvCxnSpPr>
        <p:spPr bwMode="auto">
          <a:xfrm>
            <a:off x="7041232" y="2351732"/>
            <a:ext cx="1246889" cy="47215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27890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5806132"/>
              </p:ext>
            </p:extLst>
          </p:nvPr>
        </p:nvGraphicFramePr>
        <p:xfrm>
          <a:off x="710877" y="1599805"/>
          <a:ext cx="8125630" cy="878778"/>
        </p:xfrm>
        <a:graphic>
          <a:graphicData uri="http://schemas.openxmlformats.org/drawingml/2006/table">
            <a:tbl>
              <a:tblPr/>
              <a:tblGrid>
                <a:gridCol w="583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3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5294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Number of 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84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27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10 FF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B0 FF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14 nn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05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773139"/>
              </p:ext>
            </p:extLst>
          </p:nvPr>
        </p:nvGraphicFramePr>
        <p:xfrm>
          <a:off x="710529" y="3036135"/>
          <a:ext cx="8130903" cy="18728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4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48849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algn="ctr" latinLnBrk="1"/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81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5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3</a:t>
                      </a:r>
                      <a:r>
                        <a:rPr lang="en-US" altLang="ko-KR" sz="1100" b="0" i="0" u="none" strike="noStrike" baseline="30000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rd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party controller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 주소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등록을 해 달라고 요청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5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bytes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Random Address (ex : 00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10 9F D9)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7590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0217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bytes 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Network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 (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중요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59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bytes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Origin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1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bytes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Setting Address 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</a:t>
                      </a:r>
                      <a:r>
                        <a:rPr lang="ko-KR" altLang="en-US" sz="1100" b="1" i="0" u="none" strike="noStrike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중요 </a:t>
                      </a:r>
                      <a:r>
                        <a:rPr lang="en-US" altLang="ko-KR" sz="1100" b="1" i="0" u="none" strike="noStrike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: </a:t>
                      </a:r>
                      <a:r>
                        <a:rPr lang="en-US" altLang="ko-KR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10 FF FF 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는</a:t>
                      </a:r>
                      <a:r>
                        <a:rPr lang="en-US" altLang="ko-KR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실외기가 </a:t>
                      </a:r>
                      <a:r>
                        <a:rPr lang="ko-KR" altLang="en-US" sz="1100" b="1" i="0" u="none" strike="noStrike" baseline="0" dirty="0" err="1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수동주소가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아닌 상태</a:t>
                      </a:r>
                      <a:r>
                        <a:rPr lang="en-US" altLang="ko-KR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. 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에어컨 </a:t>
                      </a:r>
                      <a:r>
                        <a:rPr lang="ko-KR" altLang="en-US" sz="1100" b="1" i="0" u="none" strike="noStrike" baseline="0" dirty="0" err="1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수동주소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설정 필요</a:t>
                      </a:r>
                      <a:r>
                        <a:rPr lang="en-US" altLang="ko-KR" sz="1100" b="1" i="0" u="none" strike="noStrike" baseline="0" dirty="0" smtClean="0">
                          <a:solidFill>
                            <a:srgbClr val="FF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1" i="0" u="none" strike="noStrike" dirty="0">
                        <a:solidFill>
                          <a:srgbClr val="FF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3" name="직사각형 32"/>
          <p:cNvSpPr/>
          <p:nvPr/>
        </p:nvSpPr>
        <p:spPr>
          <a:xfrm>
            <a:off x="710529" y="5157192"/>
            <a:ext cx="762684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Ex) 32 00 27 10 FF FF B0 FF FF C0 14 0C 05 20 04 01 04 18 00 10 9F D9 02 17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1D D1</a:t>
            </a:r>
          </a:p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04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17 00 10 00 00 04 19 00 10 00 00 FC 53 34 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10530" y="5723771"/>
            <a:ext cx="8244324" cy="502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625"/>
              </a:lnSpc>
            </a:pP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만약 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Step1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패킷을 전송한 후 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 안에 실외기로부터 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Step2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패킷을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수신하지 않으면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Addressing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을 완료하고 설치 점검 단계를 진행해야 한다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  <a:p>
            <a:pPr>
              <a:lnSpc>
                <a:spcPts val="1625"/>
              </a:lnSpc>
            </a:pP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정상 상태 중 외부제어기가 실외기로부터 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Step2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의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패킷을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받는다면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반드시 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Step3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을 수행해야 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한다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</p:txBody>
      </p:sp>
      <p:sp>
        <p:nvSpPr>
          <p:cNvPr id="9" name="직사각형 8"/>
          <p:cNvSpPr/>
          <p:nvPr/>
        </p:nvSpPr>
        <p:spPr bwMode="auto">
          <a:xfrm>
            <a:off x="4355007" y="5198221"/>
            <a:ext cx="814017" cy="171450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5169024" y="5198221"/>
            <a:ext cx="1496566" cy="171450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2" name="직사각형 11"/>
          <p:cNvSpPr/>
          <p:nvPr/>
        </p:nvSpPr>
        <p:spPr bwMode="auto">
          <a:xfrm>
            <a:off x="6665590" y="5198221"/>
            <a:ext cx="951706" cy="171450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7" name="직사각형 16"/>
          <p:cNvSpPr/>
          <p:nvPr/>
        </p:nvSpPr>
        <p:spPr bwMode="auto">
          <a:xfrm>
            <a:off x="1095894" y="5363321"/>
            <a:ext cx="1515221" cy="174625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656856" y="2489992"/>
            <a:ext cx="23936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nn : Packet number, don’t care</a:t>
            </a:r>
            <a:endParaRPr lang="ko-KR" altLang="en-US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8157840" y="1340768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2611115" y="5363321"/>
            <a:ext cx="1508125" cy="174625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2480" y="801974"/>
            <a:ext cx="2935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                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</a:t>
            </a:r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→ 외부제어기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344488" y="858709"/>
            <a:ext cx="628120" cy="22459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 2</a:t>
            </a:r>
            <a:endParaRPr lang="ko-KR" altLang="en-US" sz="1400" dirty="0">
              <a:solidFill>
                <a:schemeClr val="bg1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85996" y="1077560"/>
            <a:ext cx="586357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실외기가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주소 등록을 응답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등록을 완료한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실외기는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응답하지 않음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</a:p>
        </p:txBody>
      </p:sp>
      <p:cxnSp>
        <p:nvCxnSpPr>
          <p:cNvPr id="24" name="직선 연결선 23"/>
          <p:cNvCxnSpPr>
            <a:stCxn id="26" idx="2"/>
          </p:cNvCxnSpPr>
          <p:nvPr/>
        </p:nvCxnSpPr>
        <p:spPr bwMode="auto">
          <a:xfrm flipH="1">
            <a:off x="710529" y="2478583"/>
            <a:ext cx="4063163" cy="55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/>
          <p:cNvCxnSpPr/>
          <p:nvPr/>
        </p:nvCxnSpPr>
        <p:spPr bwMode="auto">
          <a:xfrm>
            <a:off x="6537176" y="2478583"/>
            <a:ext cx="2299331" cy="5575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68132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/>
          <p:cNvSpPr/>
          <p:nvPr/>
        </p:nvSpPr>
        <p:spPr>
          <a:xfrm>
            <a:off x="585996" y="1077560"/>
            <a:ext cx="8615476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주소 등록을 확정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17921"/>
              </p:ext>
            </p:extLst>
          </p:nvPr>
        </p:nvGraphicFramePr>
        <p:xfrm>
          <a:off x="719126" y="3170223"/>
          <a:ext cx="8658963" cy="178545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75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395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algn="ctr" latinLnBrk="1"/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9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가 실외기에게 주소 등록을 지시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4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Random Address  (Step2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실외기로부터 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53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02 17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Network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(Step2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실외기로부터 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4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Origin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     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아래의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S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etting A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ddress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로 설정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45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Setting Address    (Step2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실외기로부터 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613286" y="2759259"/>
            <a:ext cx="8324157" cy="220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97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Step2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에서 실외기로부터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받은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Random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의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마지막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3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바이트를 입력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(ex: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아래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예제 패킷의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 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9F D9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34498" y="5461972"/>
            <a:ext cx="91270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Ex) 32 00 27 6A EE FF </a:t>
            </a:r>
            <a:r>
              <a:rPr lang="en-US" altLang="ko-KR" sz="1100" b="0" dirty="0">
                <a:solidFill>
                  <a:srgbClr val="FF0000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10 9F D9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C0 12 3E 05 </a:t>
            </a:r>
            <a:r>
              <a:rPr lang="en-US" altLang="ko-KR" sz="1100" b="0" dirty="0">
                <a:solidFill>
                  <a:srgbClr val="FF0000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20 04 03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04 18 00 10 9F D9 02 17 1D D1 04 17 00 10 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</a:t>
            </a:r>
          </a:p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04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19 00 10 00 00 FC 9A 34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cxnSp>
        <p:nvCxnSpPr>
          <p:cNvPr id="32" name="직선 화살표 연결선 31"/>
          <p:cNvCxnSpPr/>
          <p:nvPr/>
        </p:nvCxnSpPr>
        <p:spPr bwMode="auto">
          <a:xfrm flipH="1">
            <a:off x="2776769" y="5308780"/>
            <a:ext cx="226290" cy="1531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33" name="직선 화살표 연결선 32"/>
          <p:cNvCxnSpPr/>
          <p:nvPr/>
        </p:nvCxnSpPr>
        <p:spPr bwMode="auto">
          <a:xfrm flipH="1">
            <a:off x="6249144" y="4605036"/>
            <a:ext cx="633217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triangle"/>
          </a:ln>
          <a:effectLst/>
        </p:spPr>
      </p:cxnSp>
      <p:cxnSp>
        <p:nvCxnSpPr>
          <p:cNvPr id="34" name="직선 연결선 33"/>
          <p:cNvCxnSpPr/>
          <p:nvPr/>
        </p:nvCxnSpPr>
        <p:spPr bwMode="auto">
          <a:xfrm>
            <a:off x="6369191" y="4839062"/>
            <a:ext cx="51317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직선 연결선 34"/>
          <p:cNvCxnSpPr/>
          <p:nvPr/>
        </p:nvCxnSpPr>
        <p:spPr bwMode="auto">
          <a:xfrm flipV="1">
            <a:off x="6882361" y="4605036"/>
            <a:ext cx="0" cy="2340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ysDash"/>
            <a:round/>
            <a:headEnd type="none" w="med" len="med"/>
            <a:tailEnd type="none" w="med" len="med"/>
          </a:ln>
          <a:effectLst/>
        </p:spPr>
      </p:cxnSp>
      <p:sp>
        <p:nvSpPr>
          <p:cNvPr id="36" name="타원 35"/>
          <p:cNvSpPr/>
          <p:nvPr/>
        </p:nvSpPr>
        <p:spPr>
          <a:xfrm>
            <a:off x="1312520" y="5624653"/>
            <a:ext cx="1048192" cy="266739"/>
          </a:xfrm>
          <a:prstGeom prst="ellipse">
            <a:avLst/>
          </a:prstGeom>
          <a:noFill/>
          <a:ln>
            <a:solidFill>
              <a:srgbClr val="FF3F3F"/>
            </a:solidFill>
            <a:prstDash val="sysDash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7" name="타원 36"/>
          <p:cNvSpPr/>
          <p:nvPr/>
        </p:nvSpPr>
        <p:spPr>
          <a:xfrm>
            <a:off x="7916936" y="5461972"/>
            <a:ext cx="1020507" cy="266739"/>
          </a:xfrm>
          <a:prstGeom prst="ellipse">
            <a:avLst/>
          </a:prstGeom>
          <a:noFill/>
          <a:ln>
            <a:solidFill>
              <a:srgbClr val="FF3F3F"/>
            </a:solidFill>
            <a:prstDash val="sysDash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5602177" y="5452796"/>
            <a:ext cx="767013" cy="266739"/>
          </a:xfrm>
          <a:prstGeom prst="ellipse">
            <a:avLst/>
          </a:prstGeom>
          <a:noFill/>
          <a:ln>
            <a:solidFill>
              <a:srgbClr val="FF3F3F"/>
            </a:solidFill>
            <a:prstDash val="sysDash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0" name="타원 39"/>
          <p:cNvSpPr/>
          <p:nvPr/>
        </p:nvSpPr>
        <p:spPr>
          <a:xfrm>
            <a:off x="6896502" y="5457956"/>
            <a:ext cx="465506" cy="266739"/>
          </a:xfrm>
          <a:prstGeom prst="ellipse">
            <a:avLst/>
          </a:prstGeom>
          <a:noFill/>
          <a:ln>
            <a:solidFill>
              <a:srgbClr val="FF3F3F"/>
            </a:solidFill>
            <a:prstDash val="sysDash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975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5279279" y="5714478"/>
            <a:ext cx="1185889" cy="24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Random Address</a:t>
            </a:r>
            <a:endParaRPr lang="ko-KR" altLang="en-US" sz="975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627801" y="5714478"/>
            <a:ext cx="1277527" cy="24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Network Address</a:t>
            </a:r>
            <a:endParaRPr lang="ko-KR" altLang="en-US" sz="975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7978441" y="5714478"/>
            <a:ext cx="1007007" cy="2423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975" b="0" dirty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Origin </a:t>
            </a:r>
            <a:r>
              <a:rPr lang="en-US" altLang="ko-KR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</a:t>
            </a:r>
            <a:endParaRPr lang="en-US" altLang="ko-KR" sz="975" b="0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1343729" y="5884704"/>
            <a:ext cx="1233007" cy="24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Setting Address</a:t>
            </a:r>
            <a:endParaRPr lang="ko-KR" altLang="en-US" sz="975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364184" y="3126530"/>
            <a:ext cx="351378" cy="23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ⓑ</a:t>
            </a:r>
            <a:endParaRPr lang="en-US" altLang="ko-KR" sz="13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364185" y="2755399"/>
            <a:ext cx="351378" cy="233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1083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300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ⓐ</a:t>
            </a:r>
            <a:endParaRPr lang="en-US" altLang="ko-KR" sz="13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8749166"/>
              </p:ext>
            </p:extLst>
          </p:nvPr>
        </p:nvGraphicFramePr>
        <p:xfrm>
          <a:off x="428846" y="1599750"/>
          <a:ext cx="8658614" cy="823990"/>
        </p:xfrm>
        <a:graphic>
          <a:graphicData uri="http://schemas.openxmlformats.org/drawingml/2006/table">
            <a:tbl>
              <a:tblPr/>
              <a:tblGrid>
                <a:gridCol w="86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0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4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63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514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327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514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088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51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Preamble</a:t>
                      </a:r>
                      <a:endParaRPr 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405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55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(100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27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ⓐ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12 01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05H</a:t>
                      </a:r>
                      <a:endParaRPr lang="en-US" altLang="ko-KR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ⓑ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6" name="직사각형 25"/>
          <p:cNvSpPr/>
          <p:nvPr/>
        </p:nvSpPr>
        <p:spPr>
          <a:xfrm>
            <a:off x="340067" y="2423853"/>
            <a:ext cx="2956749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Preamble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은 통신 채널을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override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하기 위하여 필요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8337376" y="1340768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46" name="직선 화살표 연결선 45"/>
          <p:cNvCxnSpPr/>
          <p:nvPr/>
        </p:nvCxnSpPr>
        <p:spPr bwMode="auto">
          <a:xfrm flipV="1">
            <a:off x="7500880" y="5686516"/>
            <a:ext cx="505073" cy="44056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med" len="med"/>
            <a:tailEnd type="arrow"/>
          </a:ln>
          <a:effectLst/>
        </p:spPr>
      </p:cxnSp>
      <p:cxnSp>
        <p:nvCxnSpPr>
          <p:cNvPr id="49" name="직선 화살표 연결선 48"/>
          <p:cNvCxnSpPr/>
          <p:nvPr/>
        </p:nvCxnSpPr>
        <p:spPr bwMode="auto">
          <a:xfrm>
            <a:off x="2273283" y="5841826"/>
            <a:ext cx="334073" cy="2944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lg" len="lg"/>
            <a:tailEnd type="none" w="lg" len="lg"/>
          </a:ln>
          <a:effectLst/>
        </p:spPr>
      </p:cxnSp>
      <p:cxnSp>
        <p:nvCxnSpPr>
          <p:cNvPr id="50" name="직선 화살표 연결선 49"/>
          <p:cNvCxnSpPr/>
          <p:nvPr/>
        </p:nvCxnSpPr>
        <p:spPr bwMode="auto">
          <a:xfrm>
            <a:off x="2607356" y="6136254"/>
            <a:ext cx="4893524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med" len="med"/>
            <a:tailEnd type="none"/>
          </a:ln>
          <a:effectLst/>
        </p:spPr>
      </p:cxnSp>
      <p:cxnSp>
        <p:nvCxnSpPr>
          <p:cNvPr id="51" name="직선 화살표 연결선 50"/>
          <p:cNvCxnSpPr/>
          <p:nvPr/>
        </p:nvCxnSpPr>
        <p:spPr bwMode="auto">
          <a:xfrm>
            <a:off x="5575322" y="5326707"/>
            <a:ext cx="169766" cy="1496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med" len="med"/>
            <a:tailEnd type="none"/>
          </a:ln>
          <a:effectLst/>
        </p:spPr>
      </p:cxnSp>
      <p:cxnSp>
        <p:nvCxnSpPr>
          <p:cNvPr id="52" name="직선 화살표 연결선 51"/>
          <p:cNvCxnSpPr/>
          <p:nvPr/>
        </p:nvCxnSpPr>
        <p:spPr bwMode="auto">
          <a:xfrm>
            <a:off x="3003059" y="5315718"/>
            <a:ext cx="2572263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3F3F"/>
            </a:solidFill>
            <a:prstDash val="sysDash"/>
            <a:round/>
            <a:headEnd type="none" w="med" len="med"/>
            <a:tailEnd type="none"/>
          </a:ln>
          <a:effectLst/>
        </p:spPr>
      </p:cxnSp>
      <p:sp>
        <p:nvSpPr>
          <p:cNvPr id="56" name="직사각형 55"/>
          <p:cNvSpPr/>
          <p:nvPr/>
        </p:nvSpPr>
        <p:spPr>
          <a:xfrm>
            <a:off x="3725381" y="5097390"/>
            <a:ext cx="1185889" cy="242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마지막 </a:t>
            </a:r>
            <a:r>
              <a:rPr lang="en-US" altLang="ko-KR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3 </a:t>
            </a:r>
            <a:r>
              <a:rPr lang="ko-KR" altLang="en-US" sz="975" b="0" dirty="0" smtClean="0">
                <a:solidFill>
                  <a:srgbClr val="0000CC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바이트</a:t>
            </a:r>
            <a:endParaRPr lang="ko-KR" altLang="en-US" sz="975" dirty="0">
              <a:solidFill>
                <a:srgbClr val="0000CC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72480" y="801974"/>
            <a:ext cx="30652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                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</a:t>
            </a:r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실외기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53" name="모서리가 둥근 직사각형 52"/>
          <p:cNvSpPr/>
          <p:nvPr/>
        </p:nvSpPr>
        <p:spPr>
          <a:xfrm>
            <a:off x="344488" y="858709"/>
            <a:ext cx="628120" cy="22459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 3</a:t>
            </a:r>
            <a:endParaRPr lang="ko-KR" altLang="en-US" sz="1400" dirty="0">
              <a:solidFill>
                <a:schemeClr val="bg1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470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272480" y="801974"/>
            <a:ext cx="29354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                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</a:t>
            </a:r>
            <a:r>
              <a:rPr lang="en-US" altLang="ko-KR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→ 외부제어기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5053539"/>
              </p:ext>
            </p:extLst>
          </p:nvPr>
        </p:nvGraphicFramePr>
        <p:xfrm>
          <a:off x="710877" y="2967958"/>
          <a:ext cx="8130555" cy="18028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9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29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3010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ko-KR" altLang="en-US" sz="1000" b="1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545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000" b="1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solidFill>
                      <a:srgbClr val="D0EBB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실외기가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주소 등록 완료를 응답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Random Address  (Step3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에게서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89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0217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Network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(Step3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에게서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Origin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Address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   (Step3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에게서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89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Setting Address    (Step3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에서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외부제어기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에게서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받은 주소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직사각형 19"/>
          <p:cNvSpPr/>
          <p:nvPr/>
        </p:nvSpPr>
        <p:spPr>
          <a:xfrm>
            <a:off x="2000672" y="2484755"/>
            <a:ext cx="2286254" cy="271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1408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100" b="0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xx : </a:t>
            </a:r>
            <a:r>
              <a:rPr lang="ko-KR" altLang="en-US" sz="1100" b="0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실외기의</a:t>
            </a:r>
            <a:r>
              <a:rPr lang="en-US" altLang="ko-KR" sz="1100" b="0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physical </a:t>
            </a:r>
            <a:r>
              <a:rPr lang="ko-KR" altLang="en-US" sz="1100" b="0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</a:t>
            </a:r>
            <a:r>
              <a:rPr lang="en-US" altLang="ko-KR" sz="1100" b="0" dirty="0" smtClean="0">
                <a:solidFill>
                  <a:srgbClr val="00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(00~0F)</a:t>
            </a:r>
            <a:endParaRPr lang="en-US" altLang="ko-KR" sz="1100" b="0" dirty="0">
              <a:solidFill>
                <a:srgbClr val="00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710877" y="5005343"/>
            <a:ext cx="865896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Ex) 32 00 27 10 00 00 6A EE FF C0 15 3E 05 20 04 04 04 18 00 10 9F D9 02 17 1D D1 04 17 00 10 00 00 </a:t>
            </a:r>
            <a:endParaRPr lang="en-U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04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19 00 10 00 00 64 65 34 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44488" y="858709"/>
            <a:ext cx="628120" cy="22459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1400" dirty="0" smtClean="0">
                <a:solidFill>
                  <a:schemeClr val="bg1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 4</a:t>
            </a:r>
            <a:endParaRPr lang="ko-KR" altLang="en-US" sz="1400" dirty="0">
              <a:solidFill>
                <a:schemeClr val="bg1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692956" y="5471959"/>
            <a:ext cx="846704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Step4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실외기로부터 </a:t>
            </a:r>
            <a:r>
              <a:rPr lang="ko-KR" altLang="en-US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수신하면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외부제어기는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전송하여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이 되지 않은 실외기를 검색한다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dirty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  <a:p>
            <a:pPr fontAlgn="auto" latin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Step4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수신하지 못하면 외부제어기는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Step1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전송하여 다시 </a:t>
            </a:r>
            <a:r>
              <a:rPr lang="en-US" altLang="ko-KR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 </a:t>
            </a:r>
            <a:r>
              <a:rPr lang="ko-KR" altLang="en-US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절차를 수행한다</a:t>
            </a:r>
            <a:r>
              <a:rPr lang="en-US" altLang="ko-KR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804002"/>
              </p:ext>
            </p:extLst>
          </p:nvPr>
        </p:nvGraphicFramePr>
        <p:xfrm>
          <a:off x="710877" y="1599805"/>
          <a:ext cx="8125630" cy="878778"/>
        </p:xfrm>
        <a:graphic>
          <a:graphicData uri="http://schemas.openxmlformats.org/drawingml/2006/table">
            <a:tbl>
              <a:tblPr/>
              <a:tblGrid>
                <a:gridCol w="583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1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9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54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73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599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9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1696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373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25294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Number of 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484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27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10 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00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6A EE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C0 15 01</a:t>
                      </a:r>
                      <a:endParaRPr lang="en-US" sz="11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05H</a:t>
                      </a:r>
                      <a:endParaRPr lang="en-US" sz="1100" dirty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dirty="0" smtClean="0">
                        <a:solidFill>
                          <a:schemeClr val="tx2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bytes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8157840" y="1340768"/>
            <a:ext cx="79701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)</a:t>
            </a:r>
            <a:endParaRPr lang="ko-KR" altLang="en-US" sz="1083" b="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1" name="직사각형 20"/>
          <p:cNvSpPr/>
          <p:nvPr/>
        </p:nvSpPr>
        <p:spPr bwMode="auto">
          <a:xfrm>
            <a:off x="4355007" y="5044303"/>
            <a:ext cx="814017" cy="171450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2" name="직사각형 21"/>
          <p:cNvSpPr/>
          <p:nvPr/>
        </p:nvSpPr>
        <p:spPr bwMode="auto">
          <a:xfrm>
            <a:off x="5169024" y="5044303"/>
            <a:ext cx="1496566" cy="171450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3" name="직사각형 22"/>
          <p:cNvSpPr/>
          <p:nvPr/>
        </p:nvSpPr>
        <p:spPr bwMode="auto">
          <a:xfrm>
            <a:off x="6665590" y="5044303"/>
            <a:ext cx="951706" cy="171450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4" name="직사각형 23"/>
          <p:cNvSpPr/>
          <p:nvPr/>
        </p:nvSpPr>
        <p:spPr bwMode="auto">
          <a:xfrm>
            <a:off x="7617295" y="5044303"/>
            <a:ext cx="1542703" cy="173037"/>
          </a:xfrm>
          <a:prstGeom prst="rect">
            <a:avLst/>
          </a:prstGeom>
          <a:solidFill>
            <a:schemeClr val="accent4">
              <a:lumMod val="60000"/>
              <a:lumOff val="40000"/>
              <a:alpha val="3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5" name="직사각형 24"/>
          <p:cNvSpPr/>
          <p:nvPr/>
        </p:nvSpPr>
        <p:spPr bwMode="auto">
          <a:xfrm>
            <a:off x="1098476" y="5215753"/>
            <a:ext cx="1508125" cy="174625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85996" y="1077560"/>
            <a:ext cx="5087084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실외기가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주소로 등록을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확정했다고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응답</a:t>
            </a:r>
            <a:endParaRPr lang="en-US" altLang="ko-KR" sz="130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cxnSp>
        <p:nvCxnSpPr>
          <p:cNvPr id="27" name="직선 연결선 26"/>
          <p:cNvCxnSpPr/>
          <p:nvPr/>
        </p:nvCxnSpPr>
        <p:spPr bwMode="auto">
          <a:xfrm flipH="1">
            <a:off x="710877" y="2478583"/>
            <a:ext cx="5826299" cy="4893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8" name="직선 연결선 27"/>
          <p:cNvCxnSpPr/>
          <p:nvPr/>
        </p:nvCxnSpPr>
        <p:spPr bwMode="auto">
          <a:xfrm>
            <a:off x="7473280" y="2478583"/>
            <a:ext cx="1363227" cy="4893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6435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직선 화살표 연결선 15"/>
          <p:cNvCxnSpPr/>
          <p:nvPr/>
        </p:nvCxnSpPr>
        <p:spPr bwMode="auto">
          <a:xfrm flipH="1">
            <a:off x="2851174" y="4128722"/>
            <a:ext cx="2012926" cy="30839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19" name="모서리가 둥근 직사각형 18"/>
          <p:cNvSpPr/>
          <p:nvPr/>
        </p:nvSpPr>
        <p:spPr>
          <a:xfrm>
            <a:off x="272480" y="1428182"/>
            <a:ext cx="624069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Step1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896550" y="1428183"/>
            <a:ext cx="4261103" cy="26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37" dirty="0"/>
              <a:t>32 00 11 6A EE FF B0 FF FF C0 14 40 01 </a:t>
            </a:r>
            <a:r>
              <a:rPr lang="en-US" altLang="ko-KR" sz="1137" dirty="0">
                <a:solidFill>
                  <a:srgbClr val="FF0000"/>
                </a:solidFill>
              </a:rPr>
              <a:t>20 04 00 </a:t>
            </a:r>
            <a:r>
              <a:rPr lang="en-US" altLang="ko-KR" sz="1137" dirty="0"/>
              <a:t>DD 1F 34 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896550" y="1916832"/>
            <a:ext cx="8814979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10 FF FF B0 FF FF C0 14 0C 05 </a:t>
            </a:r>
            <a:r>
              <a:rPr lang="en-US" altLang="ko-KR" sz="1137" dirty="0">
                <a:solidFill>
                  <a:srgbClr val="FF0000"/>
                </a:solidFill>
              </a:rPr>
              <a:t>20 04 01 </a:t>
            </a:r>
            <a:r>
              <a:rPr lang="en-US" altLang="ko-KR" sz="1137" dirty="0"/>
              <a:t>04 18 00 </a:t>
            </a:r>
            <a:r>
              <a:rPr lang="en-US" altLang="ko-KR" sz="1137" dirty="0">
                <a:solidFill>
                  <a:srgbClr val="25C12C"/>
                </a:solidFill>
              </a:rPr>
              <a:t>10 9F D9 </a:t>
            </a:r>
            <a:r>
              <a:rPr lang="en-US" altLang="ko-KR" sz="1137" dirty="0"/>
              <a:t>02 17 1D D1 04 17 00 10 00 00 04 19 00 </a:t>
            </a:r>
            <a:r>
              <a:rPr lang="en-US" altLang="ko-KR" sz="1137" dirty="0">
                <a:solidFill>
                  <a:srgbClr val="C00000"/>
                </a:solidFill>
              </a:rPr>
              <a:t>10 00 00 </a:t>
            </a:r>
            <a:r>
              <a:rPr lang="en-US" altLang="ko-KR" sz="1137" dirty="0"/>
              <a:t>FC 53 34 </a:t>
            </a:r>
            <a:endParaRPr lang="ko-KR" altLang="en-US" sz="1137" dirty="0"/>
          </a:p>
        </p:txBody>
      </p:sp>
      <p:sp>
        <p:nvSpPr>
          <p:cNvPr id="13" name="직사각형 12"/>
          <p:cNvSpPr/>
          <p:nvPr/>
        </p:nvSpPr>
        <p:spPr>
          <a:xfrm>
            <a:off x="896549" y="2422141"/>
            <a:ext cx="9009451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6A EE FF </a:t>
            </a:r>
            <a:r>
              <a:rPr lang="en-US" altLang="ko-KR" sz="1137" dirty="0">
                <a:solidFill>
                  <a:srgbClr val="25C12C"/>
                </a:solidFill>
              </a:rPr>
              <a:t>10 9F D9 </a:t>
            </a:r>
            <a:r>
              <a:rPr lang="en-US" altLang="ko-KR" sz="1137" dirty="0"/>
              <a:t>C0 12 3E 05 </a:t>
            </a:r>
            <a:r>
              <a:rPr lang="en-US" altLang="ko-KR" sz="1137" dirty="0">
                <a:solidFill>
                  <a:srgbClr val="FF0000"/>
                </a:solidFill>
              </a:rPr>
              <a:t>20 04 03 </a:t>
            </a:r>
            <a:r>
              <a:rPr lang="en-US" altLang="ko-KR" sz="1137" dirty="0"/>
              <a:t>04 18 00 10 9F D9 02 17 1D D1 04 17 00 10 00 00 04 19 00 </a:t>
            </a:r>
            <a:r>
              <a:rPr lang="en-US" altLang="ko-KR" sz="1137" dirty="0">
                <a:solidFill>
                  <a:srgbClr val="C00000"/>
                </a:solidFill>
              </a:rPr>
              <a:t>10 00 00 </a:t>
            </a:r>
            <a:r>
              <a:rPr lang="en-US" altLang="ko-KR" sz="1137" dirty="0"/>
              <a:t>FC 9A 34</a:t>
            </a:r>
            <a:endParaRPr lang="ko-KR" altLang="en-US" sz="1137" dirty="0"/>
          </a:p>
        </p:txBody>
      </p:sp>
      <p:sp>
        <p:nvSpPr>
          <p:cNvPr id="14" name="직사각형 13"/>
          <p:cNvSpPr/>
          <p:nvPr/>
        </p:nvSpPr>
        <p:spPr>
          <a:xfrm>
            <a:off x="896549" y="2924945"/>
            <a:ext cx="8931442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</a:t>
            </a:r>
            <a:r>
              <a:rPr lang="en-US" altLang="ko-KR" sz="1137" dirty="0">
                <a:solidFill>
                  <a:srgbClr val="C00000"/>
                </a:solidFill>
              </a:rPr>
              <a:t>10 00 00 </a:t>
            </a:r>
            <a:r>
              <a:rPr lang="en-US" altLang="ko-KR" sz="1137" dirty="0"/>
              <a:t>6A EE FF C0 15 3E 05 </a:t>
            </a:r>
            <a:r>
              <a:rPr lang="en-US" altLang="ko-KR" sz="1137" dirty="0">
                <a:solidFill>
                  <a:srgbClr val="FF0000"/>
                </a:solidFill>
              </a:rPr>
              <a:t>20 04 04 </a:t>
            </a:r>
            <a:r>
              <a:rPr lang="en-US" altLang="ko-KR" sz="1137" dirty="0"/>
              <a:t>04 18 00 10 9F D9 02 17 1D D1 04 17 00 10 00 00 04 19 00 10 00 00 64 65 34 </a:t>
            </a:r>
            <a:endParaRPr lang="ko-KR" altLang="en-US" sz="1137" dirty="0"/>
          </a:p>
        </p:txBody>
      </p:sp>
      <p:sp>
        <p:nvSpPr>
          <p:cNvPr id="17" name="직사각형 16"/>
          <p:cNvSpPr/>
          <p:nvPr/>
        </p:nvSpPr>
        <p:spPr>
          <a:xfrm>
            <a:off x="856995" y="3933057"/>
            <a:ext cx="8814979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10 FF FF B0 FF FF C0 14 74 05 </a:t>
            </a:r>
            <a:r>
              <a:rPr lang="en-US" altLang="ko-KR" sz="1137" dirty="0">
                <a:solidFill>
                  <a:srgbClr val="FF0000"/>
                </a:solidFill>
              </a:rPr>
              <a:t>20 04 01</a:t>
            </a:r>
            <a:r>
              <a:rPr lang="en-US" altLang="ko-KR" sz="1137" dirty="0"/>
              <a:t> 04 18 00 </a:t>
            </a:r>
            <a:r>
              <a:rPr lang="en-US" altLang="ko-KR" sz="1137" dirty="0">
                <a:solidFill>
                  <a:srgbClr val="25C12C"/>
                </a:solidFill>
              </a:rPr>
              <a:t>10 D4 F9</a:t>
            </a:r>
            <a:r>
              <a:rPr lang="en-US" altLang="ko-KR" sz="1137" dirty="0"/>
              <a:t> 02 17 1D D1 04 17 00 10 01 00 04 19 00 </a:t>
            </a:r>
            <a:r>
              <a:rPr lang="en-US" altLang="ko-KR" sz="1137" dirty="0">
                <a:solidFill>
                  <a:srgbClr val="C00000"/>
                </a:solidFill>
              </a:rPr>
              <a:t>10 01 00 </a:t>
            </a:r>
            <a:r>
              <a:rPr lang="en-US" altLang="ko-KR" sz="1137" dirty="0"/>
              <a:t>D6 E7 34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856995" y="4483302"/>
            <a:ext cx="9049005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6A EE FF </a:t>
            </a:r>
            <a:r>
              <a:rPr lang="en-US" altLang="ko-KR" sz="1137" dirty="0">
                <a:solidFill>
                  <a:srgbClr val="25C12C"/>
                </a:solidFill>
              </a:rPr>
              <a:t>10 D4 F9</a:t>
            </a:r>
            <a:r>
              <a:rPr lang="en-US" altLang="ko-KR" sz="1137" dirty="0"/>
              <a:t> C0 12 3E 05 </a:t>
            </a:r>
            <a:r>
              <a:rPr lang="en-US" altLang="ko-KR" sz="1137" dirty="0">
                <a:solidFill>
                  <a:srgbClr val="FF0000"/>
                </a:solidFill>
              </a:rPr>
              <a:t>20 04 03</a:t>
            </a:r>
            <a:r>
              <a:rPr lang="en-US" altLang="ko-KR" sz="1137" dirty="0"/>
              <a:t> 04 18 00 10 D4 F9 02 17 1D D1 04 17 00 10 01 00 04 19 00 </a:t>
            </a:r>
            <a:r>
              <a:rPr lang="en-US" altLang="ko-KR" sz="1137" dirty="0">
                <a:solidFill>
                  <a:srgbClr val="C00000"/>
                </a:solidFill>
              </a:rPr>
              <a:t>10 01 00 </a:t>
            </a:r>
            <a:r>
              <a:rPr lang="en-US" altLang="ko-KR" sz="1137" dirty="0"/>
              <a:t>A0 EE 34 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856995" y="4942421"/>
            <a:ext cx="8854534" cy="26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37" dirty="0"/>
              <a:t>32 00 27 </a:t>
            </a:r>
            <a:r>
              <a:rPr lang="en-US" altLang="ko-KR" sz="1137" dirty="0">
                <a:solidFill>
                  <a:srgbClr val="C00000"/>
                </a:solidFill>
              </a:rPr>
              <a:t>10 01 00 </a:t>
            </a:r>
            <a:r>
              <a:rPr lang="en-US" altLang="ko-KR" sz="1137" dirty="0"/>
              <a:t>6A EE FF C0 15 3E 05 </a:t>
            </a:r>
            <a:r>
              <a:rPr lang="en-US" altLang="ko-KR" sz="1137" dirty="0">
                <a:solidFill>
                  <a:srgbClr val="FF0000"/>
                </a:solidFill>
              </a:rPr>
              <a:t>20 04 04</a:t>
            </a:r>
            <a:r>
              <a:rPr lang="en-US" altLang="ko-KR" sz="1137" dirty="0"/>
              <a:t> 04 18 00 10 D4 F9 02 17 1D D1 04 17 00 10 01 00 04 19 00 10 01 00 BA 22 34 </a:t>
            </a:r>
          </a:p>
        </p:txBody>
      </p:sp>
      <p:cxnSp>
        <p:nvCxnSpPr>
          <p:cNvPr id="23" name="직선 화살표 연결선 22"/>
          <p:cNvCxnSpPr/>
          <p:nvPr/>
        </p:nvCxnSpPr>
        <p:spPr bwMode="auto">
          <a:xfrm flipH="1">
            <a:off x="2893219" y="2136184"/>
            <a:ext cx="2038352" cy="2891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ysDash"/>
            <a:round/>
            <a:headEnd type="none" w="med" len="med"/>
            <a:tailEnd type="triangle"/>
          </a:ln>
          <a:effectLst/>
        </p:spPr>
      </p:cxnSp>
      <p:sp>
        <p:nvSpPr>
          <p:cNvPr id="29" name="직사각형 28"/>
          <p:cNvSpPr/>
          <p:nvPr/>
        </p:nvSpPr>
        <p:spPr>
          <a:xfrm>
            <a:off x="896550" y="3429000"/>
            <a:ext cx="4261103" cy="26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37" dirty="0"/>
              <a:t>32 00 11 6A EE FF B0 FF FF C0 14 40 01 </a:t>
            </a:r>
            <a:r>
              <a:rPr lang="en-US" altLang="ko-KR" sz="1137" dirty="0">
                <a:solidFill>
                  <a:srgbClr val="FF0000"/>
                </a:solidFill>
              </a:rPr>
              <a:t>20 04 00 </a:t>
            </a:r>
            <a:r>
              <a:rPr lang="en-US" altLang="ko-KR" sz="1137" dirty="0"/>
              <a:t>DD 1F 34 </a:t>
            </a:r>
          </a:p>
        </p:txBody>
      </p:sp>
      <p:sp>
        <p:nvSpPr>
          <p:cNvPr id="31" name="직사각형 30"/>
          <p:cNvSpPr/>
          <p:nvPr/>
        </p:nvSpPr>
        <p:spPr>
          <a:xfrm>
            <a:off x="896550" y="5477713"/>
            <a:ext cx="4261103" cy="26731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37" dirty="0"/>
              <a:t>32 00 11 6A EE FF B0 FF FF C0 14 40 01 </a:t>
            </a:r>
            <a:r>
              <a:rPr lang="en-US" altLang="ko-KR" sz="1137" dirty="0">
                <a:solidFill>
                  <a:srgbClr val="FF0000"/>
                </a:solidFill>
              </a:rPr>
              <a:t>20 04 00 </a:t>
            </a:r>
            <a:r>
              <a:rPr lang="en-US" altLang="ko-KR" sz="1137" dirty="0"/>
              <a:t>DD 1F 34 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272480" y="1916832"/>
            <a:ext cx="624069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Step2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272480" y="2420888"/>
            <a:ext cx="624069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Step3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72480" y="2924944"/>
            <a:ext cx="624069" cy="27632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Step4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272480" y="3446853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Step1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모서리가 둥근 직사각형 36"/>
          <p:cNvSpPr/>
          <p:nvPr/>
        </p:nvSpPr>
        <p:spPr>
          <a:xfrm>
            <a:off x="272480" y="3933056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Step2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272480" y="4437112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Step3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272480" y="4941168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1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Step4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모서리가 둥근 직사각형 39"/>
          <p:cNvSpPr/>
          <p:nvPr/>
        </p:nvSpPr>
        <p:spPr>
          <a:xfrm>
            <a:off x="272480" y="5472295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Step1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직사각형 25"/>
          <p:cNvSpPr/>
          <p:nvPr/>
        </p:nvSpPr>
        <p:spPr bwMode="auto">
          <a:xfrm>
            <a:off x="4929188" y="1944872"/>
            <a:ext cx="647700" cy="195502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7" name="직사각형 26"/>
          <p:cNvSpPr/>
          <p:nvPr/>
        </p:nvSpPr>
        <p:spPr bwMode="auto">
          <a:xfrm>
            <a:off x="2261146" y="2454132"/>
            <a:ext cx="632073" cy="196975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0" name="직사각형 29"/>
          <p:cNvSpPr/>
          <p:nvPr/>
        </p:nvSpPr>
        <p:spPr bwMode="auto">
          <a:xfrm>
            <a:off x="4864283" y="3963464"/>
            <a:ext cx="647700" cy="209137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5" name="직사각형 34"/>
          <p:cNvSpPr/>
          <p:nvPr/>
        </p:nvSpPr>
        <p:spPr bwMode="auto">
          <a:xfrm>
            <a:off x="2219101" y="4468899"/>
            <a:ext cx="632073" cy="200350"/>
          </a:xfrm>
          <a:prstGeom prst="rect">
            <a:avLst/>
          </a:prstGeom>
          <a:solidFill>
            <a:srgbClr val="FF0000">
              <a:alpha val="3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9060" tIns="49530" rIns="99060" bIns="49530" numCol="1" rtlCol="0" anchor="t" anchorCtr="0" compatLnSpc="1">
            <a:prstTxWarp prst="textNoShape">
              <a:avLst/>
            </a:prstTxWarp>
          </a:bodyPr>
          <a:lstStyle/>
          <a:p>
            <a:pPr defTabSz="990570"/>
            <a:endParaRPr lang="ko-KR" altLang="en-US" sz="1300" dirty="0"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272480" y="5949280"/>
            <a:ext cx="624069" cy="276328"/>
          </a:xfrm>
          <a:prstGeom prst="roundRect">
            <a:avLst>
              <a:gd name="adj" fmla="val 0"/>
            </a:avLst>
          </a:prstGeom>
          <a:solidFill>
            <a:schemeClr val="accent2">
              <a:lumMod val="75000"/>
            </a:schemeClr>
          </a:solidFill>
          <a:ln>
            <a:solidFill>
              <a:schemeClr val="tx2"/>
            </a:solidFill>
          </a:ln>
        </p:spPr>
        <p:txBody>
          <a:bodyPr rtlCol="0" anchor="ctr">
            <a:noAutofit/>
          </a:bodyPr>
          <a:lstStyle/>
          <a:p>
            <a:pPr algn="ctr"/>
            <a:r>
              <a:rPr lang="en-US" altLang="ko-KR" sz="1083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Step1</a:t>
            </a:r>
            <a:endParaRPr lang="ko-KR" altLang="en-US" sz="1083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896550" y="5948552"/>
            <a:ext cx="388760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</a:t>
            </a:r>
            <a:r>
              <a:rPr lang="ko-KR" altLang="en-US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 이내에 </a:t>
            </a:r>
            <a:r>
              <a:rPr lang="en-US" altLang="ko-KR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Step2 </a:t>
            </a:r>
            <a:r>
              <a:rPr lang="ko-KR" altLang="en-US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패킷을 수신하지 못하면 </a:t>
            </a:r>
            <a:r>
              <a:rPr lang="en-US" altLang="ko-KR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Addressing </a:t>
            </a:r>
            <a:r>
              <a:rPr lang="ko-KR" altLang="en-US" dirty="0" smtClean="0">
                <a:solidFill>
                  <a:schemeClr val="accent4">
                    <a:lumMod val="75000"/>
                  </a:schemeClr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절차를 종료</a:t>
            </a:r>
            <a:endParaRPr lang="en-US" altLang="ko-KR" dirty="0">
              <a:solidFill>
                <a:schemeClr val="accent4">
                  <a:lumMod val="75000"/>
                </a:schemeClr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72480" y="801974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kumimoji="1"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상세 </a:t>
            </a:r>
            <a:r>
              <a:rPr kumimoji="1"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Sequence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71971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/>
          </p:cNvSpPr>
          <p:nvPr/>
        </p:nvSpPr>
        <p:spPr>
          <a:xfrm>
            <a:off x="3572" y="0"/>
            <a:ext cx="9906000" cy="68580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95285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90570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485854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981139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 </a:t>
            </a:r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 확인</a:t>
            </a:r>
            <a:endParaRPr lang="en-US" altLang="ko-KR" sz="6000" kern="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88416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546033"/>
              </p:ext>
            </p:extLst>
          </p:nvPr>
        </p:nvGraphicFramePr>
        <p:xfrm>
          <a:off x="710877" y="1858655"/>
          <a:ext cx="8562603" cy="775985"/>
        </p:xfrm>
        <a:graphic>
          <a:graphicData uri="http://schemas.openxmlformats.org/drawingml/2006/table">
            <a:tbl>
              <a:tblPr/>
              <a:tblGrid>
                <a:gridCol w="99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61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Preamble</a:t>
                      </a:r>
                      <a:endParaRPr 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55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(100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00 11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B0 FF 10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11 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10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D0 4F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8532445" y="1556792"/>
            <a:ext cx="813043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Latin 600C" panose="020B0706030303020204" pitchFamily="34" charset="0"/>
                <a:ea typeface="SamsungOneLatin 600C" panose="020B0706030303020204" pitchFamily="34" charset="0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Latin 600C" panose="020B0706030303020204" pitchFamily="34" charset="0"/>
                <a:ea typeface="맑은 고딕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Latin 600C" panose="020B0706030303020204" pitchFamily="34" charset="0"/>
                <a:ea typeface="SamsungOneLatin 600C" panose="020B0706030303020204" pitchFamily="34" charset="0"/>
              </a:rPr>
              <a:t>)</a:t>
            </a:r>
            <a:endParaRPr lang="ko-KR" altLang="en-US" sz="1083" b="0" dirty="0">
              <a:latin typeface="SamsungOneLatin 600C" panose="020B0706030303020204" pitchFamily="34" charset="0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700107" y="2673647"/>
            <a:ext cx="2956749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Preamble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은 통신 채널을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override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하기 위하여 필요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848544" y="2984356"/>
            <a:ext cx="705678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e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x) 32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11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6A EE FF B0 FF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C0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11 01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10 FF D0 4F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34 </a:t>
            </a:r>
            <a:endParaRPr lang="en-US" altLang="ko-KR" b="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2480" y="801974"/>
            <a:ext cx="41681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→ 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 요청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585996" y="1077560"/>
            <a:ext cx="5087084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모든 에어컨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통신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Ready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상태를 요청한다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실외기로부터 응답이 없을 경우 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10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초 후 다시 보낸다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1267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/>
          <p:cNvSpPr/>
          <p:nvPr/>
        </p:nvSpPr>
        <p:spPr>
          <a:xfrm>
            <a:off x="588466" y="5334307"/>
            <a:ext cx="8748154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2B EF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0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01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28 9A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1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02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FF0000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5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C2 1A 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2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 아님</a:t>
            </a:r>
            <a:endParaRPr lang="es-E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03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2E 70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3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endParaRPr lang="es-E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8389651" y="1340768"/>
            <a:ext cx="85151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83" b="0" dirty="0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916020"/>
              </p:ext>
            </p:extLst>
          </p:nvPr>
        </p:nvGraphicFramePr>
        <p:xfrm>
          <a:off x="4997733" y="2709439"/>
          <a:ext cx="3123619" cy="79156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4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416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8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zz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ts val="1600"/>
                        </a:lnSpc>
                      </a:pPr>
                      <a:r>
                        <a:rPr 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Ax :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통신</a:t>
                      </a:r>
                      <a:r>
                        <a:rPr 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Ready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상태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(x : don’t care)</a:t>
                      </a:r>
                      <a:endParaRPr lang="en-US" sz="1100" b="0" i="0" u="none" strike="noStrike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algn="l" fontAlgn="ctr">
                        <a:lnSpc>
                          <a:spcPts val="1600"/>
                        </a:lnSpc>
                      </a:pPr>
                      <a:r>
                        <a:rPr 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이외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: </a:t>
                      </a:r>
                      <a:r>
                        <a:rPr lang="ko-KR" altLang="en-US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통신 </a:t>
                      </a: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Ready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상태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아님</a:t>
                      </a:r>
                      <a:endParaRPr lang="en-US" sz="1100" b="0" i="0" u="none" strike="noStrike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직사각형 14"/>
          <p:cNvSpPr/>
          <p:nvPr/>
        </p:nvSpPr>
        <p:spPr>
          <a:xfrm>
            <a:off x="588466" y="3872635"/>
            <a:ext cx="842042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2B EF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0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01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28 9A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1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02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2D 05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2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endParaRPr lang="es-E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32 00 11 10 </a:t>
            </a:r>
            <a:r>
              <a:rPr lang="es-ES" altLang="ko-KR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03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00 6A EE FF C0 15 01 01 20 10 </a:t>
            </a:r>
            <a:r>
              <a:rPr lang="es-ES" altLang="ko-KR" dirty="0">
                <a:solidFill>
                  <a:srgbClr val="0000CC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A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8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2E 70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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실외기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3</a:t>
            </a:r>
            <a:r>
              <a:rPr lang="ko-KR" altLang="en-US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번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통신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Ready </a:t>
            </a:r>
            <a:r>
              <a:rPr lang="ko-KR" altLang="en-US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  <a:cs typeface="Courier New" panose="02070309020205020404" pitchFamily="49" charset="0"/>
                <a:sym typeface="Wingdings" panose="05000000000000000000" pitchFamily="2" charset="2"/>
              </a:rPr>
              <a:t>상태</a:t>
            </a:r>
            <a:endParaRPr lang="es-E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65037" y="3661612"/>
            <a:ext cx="3896035" cy="220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e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x) 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4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0,1,2,3)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가 통신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Ready 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상태 응답</a:t>
            </a:r>
            <a:endParaRPr lang="en-US" altLang="ko-KR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5032451" y="3904694"/>
            <a:ext cx="282686" cy="766877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415160"/>
              </p:ext>
            </p:extLst>
          </p:nvPr>
        </p:nvGraphicFramePr>
        <p:xfrm>
          <a:off x="857739" y="1616600"/>
          <a:ext cx="8279989" cy="702078"/>
        </p:xfrm>
        <a:graphic>
          <a:graphicData uri="http://schemas.openxmlformats.org/drawingml/2006/table">
            <a:tbl>
              <a:tblPr/>
              <a:tblGrid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7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484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40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40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00 11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10 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00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15 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10 zz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879453" y="2328262"/>
            <a:ext cx="1633388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xx :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2001258" y="3895160"/>
            <a:ext cx="282686" cy="766877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565037" y="4874893"/>
            <a:ext cx="9307953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e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x) 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3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대</a:t>
            </a:r>
            <a:r>
              <a:rPr lang="en-US" altLang="ko-KR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0,1,3)</a:t>
            </a:r>
            <a:r>
              <a:rPr lang="ko-KR" altLang="en-US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은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통신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Ready, 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대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2)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는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 </a:t>
            </a:r>
            <a:r>
              <a:rPr lang="ko-KR" altLang="en-US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 아님</a:t>
            </a:r>
            <a:endParaRPr lang="en-US" altLang="ko-KR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  <a:p>
            <a:pPr fontAlgn="auto" latinLnBrk="1">
              <a:lnSpc>
                <a:spcPts val="15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 </a:t>
            </a:r>
            <a:r>
              <a:rPr lang="en-US" altLang="ko-KR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       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만약 </a:t>
            </a:r>
            <a:r>
              <a:rPr lang="en-US" altLang="ko-KR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대라도 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상태가 아니면 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10</a:t>
            </a:r>
            <a:r>
              <a:rPr lang="ko-KR" altLang="en-US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 후에 다시 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</a:t>
            </a:r>
            <a:r>
              <a:rPr lang="ko-KR" altLang="en-US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요청 패킷을 보낸다</a:t>
            </a:r>
            <a:r>
              <a:rPr lang="en-US" altLang="ko-KR" dirty="0" smtClean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en-US" altLang="ko-KR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2001258" y="5359518"/>
            <a:ext cx="282686" cy="766877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030018" y="5358705"/>
            <a:ext cx="282686" cy="766877"/>
          </a:xfrm>
          <a:prstGeom prst="rect">
            <a:avLst/>
          </a:prstGeom>
          <a:noFill/>
          <a:ln>
            <a:solidFill>
              <a:srgbClr val="FF0000"/>
            </a:solidFill>
            <a:prstDash val="solid"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83" dirty="0">
              <a:solidFill>
                <a:schemeClr val="tx2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25" name="직선 연결선 24"/>
          <p:cNvCxnSpPr/>
          <p:nvPr/>
        </p:nvCxnSpPr>
        <p:spPr bwMode="auto">
          <a:xfrm flipH="1">
            <a:off x="4997733" y="2328262"/>
            <a:ext cx="963380" cy="38117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/>
          <p:cNvCxnSpPr/>
          <p:nvPr/>
        </p:nvCxnSpPr>
        <p:spPr bwMode="auto">
          <a:xfrm>
            <a:off x="7113240" y="2318678"/>
            <a:ext cx="1008112" cy="39076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2"/>
            </a:solidFill>
            <a:prstDash val="dash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272480" y="801974"/>
            <a:ext cx="42242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 응답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34" name="직사각형 33"/>
          <p:cNvSpPr/>
          <p:nvPr/>
        </p:nvSpPr>
        <p:spPr>
          <a:xfrm>
            <a:off x="585996" y="1135777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실외기가 외부제어기로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통신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Ready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상태를 응답한다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6358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 txBox="1">
            <a:spLocks/>
          </p:cNvSpPr>
          <p:nvPr/>
        </p:nvSpPr>
        <p:spPr>
          <a:xfrm>
            <a:off x="3572" y="0"/>
            <a:ext cx="9906000" cy="68580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95285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90570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485854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981139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확인</a:t>
            </a:r>
            <a:endParaRPr lang="en-US" altLang="ko-KR" sz="6000" kern="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57049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507072"/>
              </p:ext>
            </p:extLst>
          </p:nvPr>
        </p:nvGraphicFramePr>
        <p:xfrm>
          <a:off x="710877" y="1594252"/>
          <a:ext cx="8634611" cy="775985"/>
        </p:xfrm>
        <a:graphic>
          <a:graphicData uri="http://schemas.openxmlformats.org/drawingml/2006/table">
            <a:tbl>
              <a:tblPr/>
              <a:tblGrid>
                <a:gridCol w="99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Preamble</a:t>
                      </a:r>
                      <a:endParaRPr 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55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(100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B2 FF 20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11 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04 08 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FF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FF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FF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FF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EA 55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" name="직사각형 40"/>
          <p:cNvSpPr/>
          <p:nvPr/>
        </p:nvSpPr>
        <p:spPr>
          <a:xfrm>
            <a:off x="8553400" y="1292389"/>
            <a:ext cx="85151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83" b="0" dirty="0"/>
          </a:p>
        </p:txBody>
      </p:sp>
      <p:sp>
        <p:nvSpPr>
          <p:cNvPr id="22" name="직사각형 21"/>
          <p:cNvSpPr/>
          <p:nvPr/>
        </p:nvSpPr>
        <p:spPr>
          <a:xfrm>
            <a:off x="700107" y="2409244"/>
            <a:ext cx="2956749" cy="25601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Preamble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은 통신 채널을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override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하기 위하여 필요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714939" y="2852936"/>
            <a:ext cx="7056784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e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x) 32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14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6A EE FF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B2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FF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20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C0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11 01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01 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04 08 FF </a:t>
            </a:r>
            <a:r>
              <a:rPr lang="en-US" altLang="ko-KR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FF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FF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FF</a:t>
            </a:r>
            <a:r>
              <a:rPr lang="en-US" altLang="ko-KR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EA 55 </a:t>
            </a:r>
            <a:r>
              <a:rPr lang="en-US" altLang="ko-KR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34 </a:t>
            </a:r>
            <a:endParaRPr lang="en-US" altLang="ko-KR" b="0" dirty="0" smtClean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2480" y="801974"/>
            <a:ext cx="3805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→ 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 주소 요청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5996" y="1135777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외부제어기가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모든 에어컨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실외기에게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설치된 실내기 주소를 요청한다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66311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42"/>
          <p:cNvSpPr/>
          <p:nvPr/>
        </p:nvSpPr>
        <p:spPr>
          <a:xfrm>
            <a:off x="8389651" y="1268760"/>
            <a:ext cx="85151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83" b="0" dirty="0"/>
          </a:p>
        </p:txBody>
      </p:sp>
      <p:sp>
        <p:nvSpPr>
          <p:cNvPr id="15" name="직사각형 14"/>
          <p:cNvSpPr/>
          <p:nvPr/>
        </p:nvSpPr>
        <p:spPr>
          <a:xfrm>
            <a:off x="781044" y="2991951"/>
            <a:ext cx="842042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14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20 </a:t>
            </a:r>
            <a:r>
              <a:rPr lang="es-ES" altLang="ko-KR" dirty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00 00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6A EE FF C0 15 01 01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04 08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00 20 00 00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2B EF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14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20 00 01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6A EE FF C0 15 01 01 04 08 </a:t>
            </a:r>
            <a:r>
              <a:rPr lang="es-ES" altLang="ko-KR" dirty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00 20 00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01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28 9A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  <a:endParaRPr lang="en-U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  <a:p>
            <a:r>
              <a:rPr lang="en-U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32 00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14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20 00 02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6A EE FF C0 15 01 01 04 08 </a:t>
            </a:r>
            <a:r>
              <a:rPr lang="es-ES" altLang="ko-KR" dirty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00 20 00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02 </a:t>
            </a:r>
            <a:r>
              <a:rPr lang="es-ES" altLang="ko-KR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2D 05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34</a:t>
            </a:r>
          </a:p>
          <a:p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   32 00 14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20 00 03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6A EE FF C0 15 01 01 04 08 </a:t>
            </a:r>
            <a:r>
              <a:rPr lang="es-ES" altLang="ko-KR" dirty="0" smtClean="0">
                <a:solidFill>
                  <a:srgbClr val="0000FF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00 20 00 03 </a:t>
            </a:r>
            <a:r>
              <a:rPr lang="es-ES" altLang="ko-KR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2E 70 34</a:t>
            </a:r>
            <a:endParaRPr lang="es-ES" altLang="ko-KR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757615" y="2780928"/>
            <a:ext cx="4555425" cy="220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975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e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x) 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0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번에 실내기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4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대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0,1,2,3)</a:t>
            </a:r>
            <a:r>
              <a:rPr lang="ko-KR" altLang="en-US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가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설치되어 있을</a:t>
            </a:r>
            <a:r>
              <a:rPr lang="en-US" altLang="ko-KR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경우 </a:t>
            </a:r>
            <a:endParaRPr lang="en-US" altLang="ko-KR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931395"/>
              </p:ext>
            </p:extLst>
          </p:nvPr>
        </p:nvGraphicFramePr>
        <p:xfrm>
          <a:off x="857739" y="1544592"/>
          <a:ext cx="8279989" cy="702078"/>
        </p:xfrm>
        <a:graphic>
          <a:graphicData uri="http://schemas.openxmlformats.org/drawingml/2006/table">
            <a:tbl>
              <a:tblPr/>
              <a:tblGrid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250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35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32H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00 14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 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yy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C0 15 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01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08 00 20 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yy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34H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9" name="직사각형 28"/>
          <p:cNvSpPr/>
          <p:nvPr/>
        </p:nvSpPr>
        <p:spPr>
          <a:xfrm>
            <a:off x="1879452" y="2256254"/>
            <a:ext cx="408166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xx :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(00~0FH),  </a:t>
            </a:r>
            <a:r>
              <a:rPr lang="en-US" altLang="ko-KR" sz="1000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yy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: 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</a:t>
            </a:r>
            <a:r>
              <a:rPr lang="ko-KR" altLang="en-US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주소</a:t>
            </a:r>
            <a:r>
              <a:rPr lang="en-US" altLang="ko-KR" sz="1000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(00~3FH) </a:t>
            </a:r>
            <a:endParaRPr lang="en-US" altLang="ko-KR" sz="1000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2480" y="801974"/>
            <a:ext cx="3861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응답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85996" y="1135777"/>
            <a:ext cx="8837534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 실외기가 외부제어기로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설치된 실내기 주소를 응답한다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sz="1300" u="sng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19600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9377" y="0"/>
            <a:ext cx="9906000" cy="6858000"/>
          </a:xfrm>
        </p:spPr>
        <p:txBody>
          <a:bodyPr/>
          <a:lstStyle/>
          <a:p>
            <a:pPr lvl="0"/>
            <a:r>
              <a:rPr lang="ko-KR" altLang="en-US" sz="600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600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600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상태 모니터링</a:t>
            </a:r>
            <a:endParaRPr lang="en-US" altLang="ko-KR" sz="600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380844" y="1759555"/>
            <a:ext cx="9180668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4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모니터링 단계에서는 에어컨이 주기적으로 또는 이벤트 발생 시 에어컨 상태 정보를 전송한다</a:t>
            </a:r>
            <a:r>
              <a:rPr lang="en-US" altLang="ko-KR" sz="14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>
              <a:lnSpc>
                <a:spcPts val="2200"/>
              </a:lnSpc>
            </a:pPr>
            <a:r>
              <a:rPr lang="ko-KR" altLang="en-US" sz="140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이 때 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외부제어기는 매 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61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초마다 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 Step1 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패킷을 보내어 에어컨의 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 </a:t>
            </a:r>
            <a:r>
              <a:rPr lang="ko-KR" altLang="en-US" sz="1400" u="sng" dirty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상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태를 확인한다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>
              <a:lnSpc>
                <a:spcPts val="2200"/>
              </a:lnSpc>
            </a:pP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에어컨이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Addressing Step2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를 회신하면 외부제어기는 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Step3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을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ko-KR" altLang="en-US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수행하고 모니터링을 진행한다</a:t>
            </a:r>
            <a:r>
              <a:rPr lang="en-US" altLang="ko-KR" sz="1400" u="sng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</a:p>
          <a:p>
            <a:pPr>
              <a:lnSpc>
                <a:spcPts val="2200"/>
              </a:lnSpc>
            </a:pPr>
            <a:r>
              <a:rPr lang="ko-KR" altLang="en-US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외부제어기의 모니터링 단계에서 에어컨이 </a:t>
            </a:r>
            <a:r>
              <a:rPr lang="en-US" altLang="ko-KR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Reset</a:t>
            </a:r>
            <a:r>
              <a:rPr lang="ko-KR" altLang="en-US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이 될 경우 </a:t>
            </a:r>
            <a:r>
              <a:rPr lang="en-US" altLang="ko-KR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Addressing</a:t>
            </a:r>
            <a:r>
              <a:rPr lang="ko-KR" altLang="en-US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을 수행하지 않으면 에어컨은 통신을 하지 않는다</a:t>
            </a:r>
            <a:r>
              <a:rPr lang="en-US" altLang="ko-KR" sz="1400" dirty="0" smtClean="0">
                <a:solidFill>
                  <a:srgbClr val="FF0000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88504" y="1154117"/>
            <a:ext cx="1296144" cy="64807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r"/>
            <a:r>
              <a:rPr lang="ko-KR" altLang="en-US" sz="32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주의 </a:t>
            </a:r>
            <a:r>
              <a:rPr lang="en-US" altLang="ko-KR" sz="320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!</a:t>
            </a:r>
            <a:endParaRPr lang="ko-KR" altLang="en-US" sz="3200" dirty="0" smtClean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729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/>
        </p:nvSpPr>
        <p:spPr>
          <a:xfrm>
            <a:off x="2216696" y="2690859"/>
            <a:ext cx="7365444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xx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주소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(00 ~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0FH),   yy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00~3FH),  nn : Packet number (don’t care)</a:t>
            </a:r>
            <a:endParaRPr lang="en-US" altLang="ko-KR" sz="1083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37247"/>
              </p:ext>
            </p:extLst>
          </p:nvPr>
        </p:nvGraphicFramePr>
        <p:xfrm>
          <a:off x="848545" y="3099666"/>
          <a:ext cx="8280919" cy="280831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100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Description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53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40 00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zz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 운전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On/Off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상태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Off,   01 : On,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그 외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: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무시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4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#2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40 01</a:t>
                      </a:r>
                      <a:endParaRPr lang="en-US" altLang="ko-KR" sz="1100" b="0" i="0" u="none" strike="noStrike" kern="1200" baseline="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kern="1200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err="1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운전모드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상태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   00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자동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01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냉방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02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제습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03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송풍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04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난방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그 외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무시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94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#3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40 06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 바람세기 상태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자동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 01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미풍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02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약풍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03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강풍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그 외 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무시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5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에어컨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Swing On/Off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상태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Off,   01 : On, 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그 외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: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무시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4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40 27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필터 청소 알림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On/Off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상태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lvl="0" indent="0" algn="l" defTabSz="99057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00 : Off,   01 : On, 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그 외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: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무시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155493"/>
                  </a:ext>
                </a:extLst>
              </a:tr>
              <a:tr h="4259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#6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42 01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zz </a:t>
                      </a:r>
                      <a:r>
                        <a:rPr lang="en-US" altLang="ko-KR" sz="1100" b="0" i="0" u="none" strike="noStrike" baseline="0" dirty="0" err="1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 설정 온도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온도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*10)</a:t>
                      </a: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Times New Roman" pitchFamily="18" charset="0"/>
                        </a:rPr>
                        <a:t>  ex) 01 0E </a:t>
                      </a: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Times New Roman" pitchFamily="18" charset="0"/>
                          <a:sym typeface="Wingdings" panose="05000000000000000000" pitchFamily="2" charset="2"/>
                        </a:rPr>
                        <a:t> 0x010E  270  27*10</a:t>
                      </a:r>
                      <a:r>
                        <a:rPr kumimoji="1"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Times New Roman" pitchFamily="18" charset="0"/>
                          <a:sym typeface="Wingdings" panose="05000000000000000000" pitchFamily="2" charset="2"/>
                        </a:rPr>
                        <a:t> = </a:t>
                      </a: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Times New Roman" pitchFamily="18" charset="0"/>
                        </a:rPr>
                        <a:t>27</a:t>
                      </a:r>
                      <a:r>
                        <a:rPr kumimoji="1"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Times New Roman" pitchFamily="18" charset="0"/>
                        </a:rPr>
                        <a:t>℃</a:t>
                      </a:r>
                      <a:endParaRPr kumimoji="1"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Times New Roman" pitchFamily="18" charset="0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412850"/>
                  </a:ext>
                </a:extLst>
              </a:tr>
            </a:tbl>
          </a:graphicData>
        </a:graphic>
      </p:graphicFrame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7775457"/>
              </p:ext>
            </p:extLst>
          </p:nvPr>
        </p:nvGraphicFramePr>
        <p:xfrm>
          <a:off x="857739" y="2053887"/>
          <a:ext cx="8279989" cy="613730"/>
        </p:xfrm>
        <a:graphic>
          <a:graphicData uri="http://schemas.openxmlformats.org/drawingml/2006/table">
            <a:tbl>
              <a:tblPr/>
              <a:tblGrid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00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161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2935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1407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1407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1203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Length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695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20 xx yy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B3 xx FF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C0 14 nn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12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8337376" y="1772816"/>
            <a:ext cx="75533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083" b="0" dirty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2480" y="801974"/>
            <a:ext cx="38058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→ 외부제어기 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 상태 전송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5996" y="1135777"/>
            <a:ext cx="88375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모니터링 시에는 외부제어기가 데이터 요청 패킷을 보내지 않는다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실외기가 지속적으로 모니터링 데이터를 보내므로 외부제어기는 이 데이터를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Parsing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한다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 </a:t>
            </a:r>
            <a:r>
              <a:rPr lang="ko-KR" altLang="en-US" sz="1300" u="sng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아래</a:t>
            </a:r>
            <a:r>
              <a:rPr lang="en-US" altLang="ko-KR" sz="1300" u="sng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Index </a:t>
            </a:r>
            <a:r>
              <a:rPr lang="ko-KR" altLang="en-US" sz="1300" u="sng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 정보는 모두 무시한다</a:t>
            </a:r>
            <a:r>
              <a:rPr lang="en-US" altLang="ko-KR" sz="1300" u="sng" dirty="0">
                <a:solidFill>
                  <a:srgbClr val="FF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6672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966064"/>
              </p:ext>
            </p:extLst>
          </p:nvPr>
        </p:nvGraphicFramePr>
        <p:xfrm>
          <a:off x="848545" y="1145002"/>
          <a:ext cx="8280919" cy="2716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202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Description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36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Message Set #7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42 03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zz zz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에어컨 실내 온도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(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온도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*10, 0x0000~0x7FFF: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영상 온도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, 0x8000~0xFFFF: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영하 온도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ex) 01 2C</a:t>
                      </a:r>
                      <a:r>
                        <a:rPr kumimoji="1"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Times New Roman" pitchFamily="18" charset="0"/>
                        </a:rPr>
                        <a:t>= </a:t>
                      </a: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Times New Roman" pitchFamily="18" charset="0"/>
                        </a:rPr>
                        <a:t>300 </a:t>
                      </a: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Times New Roman" pitchFamily="18" charset="0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Times New Roman" pitchFamily="18" charset="0"/>
                        </a:rPr>
                        <a:t>3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℃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u="none" strike="noStrike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        FE 0C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→ ((0xFFFF-</a:t>
                      </a:r>
                      <a:r>
                        <a:rPr lang="en-US" altLang="ko-KR" sz="1100" u="none" strike="noStrike" baseline="0" dirty="0" smtClean="0">
                          <a:solidFill>
                            <a:srgbClr val="C00000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0xFE0C</a:t>
                      </a:r>
                      <a:r>
                        <a:rPr lang="en-US" altLang="ko-KR" sz="11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 + 0x0001)/0x000A= </a:t>
                      </a:r>
                    </a:p>
                    <a:p>
                      <a:pPr algn="l" fontAlgn="t"/>
                      <a:r>
                        <a:rPr lang="en-US" altLang="ko-KR" sz="11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                   0x01F4/0x000A = 0x0032 = 50 → 50x(-1)=-50</a:t>
                      </a:r>
                      <a:r>
                        <a:rPr lang="ko-KR" altLang="en-US" sz="110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도</a:t>
                      </a:r>
                      <a:endParaRPr lang="en-US" altLang="ko-KR" sz="1100" u="none" strike="noStrike" baseline="0" dirty="0" smtClean="0">
                        <a:solidFill>
                          <a:schemeClr val="tx2"/>
                        </a:solidFill>
                        <a:effectLst/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11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Message Set #8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02 02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 zz</a:t>
                      </a:r>
                      <a:endParaRPr lang="ko-KR" altLang="en-US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에어컨 에러 코드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ex) 00 C9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201 (decimal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0100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Message Set #9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04 09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endParaRPr lang="ko-KR" altLang="en-US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유무선리모컨 사용 제한 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 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00 00 00 00 : </a:t>
                      </a:r>
                      <a:r>
                        <a:rPr lang="ko-KR" altLang="en-US" sz="1100" dirty="0" err="1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제한없음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 00 00 6A 6A :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사용제한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" panose="020B0703030303020204" pitchFamily="50" charset="-127"/>
                        <a:ea typeface="SamsungOneKorean 600" panose="020B0703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 Message Set </a:t>
                      </a:r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#10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38</a:t>
                      </a:r>
                      <a:endParaRPr lang="en-US" altLang="ko-KR" sz="1100" b="0" i="0" u="none" strike="noStrike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에어컨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현재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습도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(%)</a:t>
                      </a: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   ex</a:t>
                      </a:r>
                      <a:r>
                        <a:rPr lang="en-US" altLang="ko-KR" sz="110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</a:rPr>
                        <a:t>) 3E </a:t>
                      </a:r>
                      <a:r>
                        <a:rPr lang="en-US" altLang="ko-KR" sz="1100" smtClean="0">
                          <a:solidFill>
                            <a:schemeClr val="tx2"/>
                          </a:solidFill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sym typeface="Wingdings" panose="05000000000000000000" pitchFamily="2" charset="2"/>
                        </a:rPr>
                        <a:t> 62%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1097259"/>
                  </a:ext>
                </a:extLst>
              </a:tr>
            </a:tbl>
          </a:graphicData>
        </a:graphic>
      </p:graphicFrame>
      <p:sp>
        <p:nvSpPr>
          <p:cNvPr id="3" name="직사각형 2"/>
          <p:cNvSpPr/>
          <p:nvPr/>
        </p:nvSpPr>
        <p:spPr>
          <a:xfrm>
            <a:off x="488504" y="4529733"/>
            <a:ext cx="928903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32 00 3C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02 0A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B3 02 FF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 14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 0D 04 48 00 00 00 0C 40 07 FE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40 11 00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 12 00 40 2F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</a:p>
          <a:p>
            <a:pPr>
              <a:lnSpc>
                <a:spcPts val="1500"/>
              </a:lnSpc>
            </a:pP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40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4F FF 40 AE 0A 40 AF 0A 40 BD 01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 01 00 F0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 02 00 F0 42 2A 00 96 42 2B 01 7C 64 06 34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8296180" y="886020"/>
            <a:ext cx="85151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083" b="0" dirty="0"/>
          </a:p>
        </p:txBody>
      </p:sp>
      <p:sp>
        <p:nvSpPr>
          <p:cNvPr id="7" name="직사각형 6"/>
          <p:cNvSpPr/>
          <p:nvPr/>
        </p:nvSpPr>
        <p:spPr>
          <a:xfrm>
            <a:off x="488504" y="5184194"/>
            <a:ext cx="9289032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32 00 3D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 02 0A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B3 02 FF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 14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AE 0C 22 F7 00 0C 22 F9 00 00 22 FA 00 00 22 FB 00 33 22 FC 03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FC</a:t>
            </a:r>
          </a:p>
          <a:p>
            <a:pPr>
              <a:lnSpc>
                <a:spcPts val="1500"/>
              </a:lnSpc>
            </a:pP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22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FD 00 01 22 FE 00 0A 22 FF 00 02 24 FB 00 00 01 0F </a:t>
            </a:r>
            <a:r>
              <a:rPr lang="en-US" altLang="ko-KR" sz="11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40 00 00 40 01 00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 02 FF 69 DD 34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776536" y="4106122"/>
            <a:ext cx="7365444" cy="2589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※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위의 </a:t>
            </a:r>
            <a:r>
              <a:rPr lang="ko-KR" altLang="en-US" sz="1083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메세지셋은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순서가 바뀌거나 일부가 올 수 있다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.</a:t>
            </a:r>
            <a:endParaRPr lang="en-US" altLang="ko-KR" sz="1083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81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/>
          <p:cNvSpPr txBox="1">
            <a:spLocks/>
          </p:cNvSpPr>
          <p:nvPr/>
        </p:nvSpPr>
        <p:spPr>
          <a:xfrm>
            <a:off x="-9377" y="0"/>
            <a:ext cx="9906000" cy="6858000"/>
          </a:xfrm>
          <a:prstGeom prst="rect">
            <a:avLst/>
          </a:prstGeom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5850" b="1">
                <a:solidFill>
                  <a:schemeClr val="tx2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5pPr>
            <a:lvl6pPr marL="495285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6pPr>
            <a:lvl7pPr marL="990570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7pPr>
            <a:lvl8pPr marL="1485854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8pPr>
            <a:lvl9pPr marL="1981139" algn="l" rtl="0" fontAlgn="base">
              <a:spcBef>
                <a:spcPct val="0"/>
              </a:spcBef>
              <a:spcAft>
                <a:spcPct val="0"/>
              </a:spcAft>
              <a:defRPr sz="3467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9pPr>
          </a:lstStyle>
          <a:p>
            <a:r>
              <a:rPr lang="ko-KR" altLang="en-US" sz="6000" kern="0" dirty="0" smtClean="0">
                <a:solidFill>
                  <a:srgbClr val="000000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 제어</a:t>
            </a:r>
            <a:endParaRPr lang="en-US" altLang="ko-KR" sz="6000" kern="0" dirty="0">
              <a:solidFill>
                <a:srgbClr val="00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5240186"/>
              </p:ext>
            </p:extLst>
          </p:nvPr>
        </p:nvGraphicFramePr>
        <p:xfrm>
          <a:off x="350837" y="2028083"/>
          <a:ext cx="9275858" cy="1007121"/>
        </p:xfrm>
        <a:graphic>
          <a:graphicData uri="http://schemas.openxmlformats.org/drawingml/2006/table">
            <a:tbl>
              <a:tblPr/>
              <a:tblGrid>
                <a:gridCol w="995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2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322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72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87041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Preamble</a:t>
                      </a:r>
                      <a:endParaRPr lang="en-US" sz="1100" b="1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0080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55</a:t>
                      </a:r>
                    </a:p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(100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바이트</a:t>
                      </a: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)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20 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yy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 : 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실외기 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xx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번의 실내기 </a:t>
                      </a:r>
                      <a:r>
                        <a:rPr lang="en-US" altLang="ko-KR" sz="1100" baseline="0" dirty="0" err="1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yy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번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B2 xx 20 : 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실외기 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xx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번의 전체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 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실내기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ts val="15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B2 FF 20 : 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전체 </a:t>
                      </a:r>
                      <a:r>
                        <a:rPr lang="ko-KR" altLang="en-US" sz="1100" baseline="0" dirty="0" err="1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실외기의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 전체 실내기</a:t>
                      </a:r>
                      <a:endParaRPr lang="en-US" altLang="ko-KR" sz="1100" dirty="0" smtClean="0">
                        <a:solidFill>
                          <a:srgbClr val="FF0000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C0 13 00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N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Latin 600C" panose="020B0706030303020204" pitchFamily="34" charset="0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Korean 600" panose="020B0703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Latin 600C" panose="020B0706030303020204" pitchFamily="34" charset="0"/>
                        <a:ea typeface="SamsungOneKorean 600" panose="020B0703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Latin 600C" panose="020B0706030303020204" pitchFamily="34" charset="0"/>
                          <a:ea typeface="SamsungOneLatin 600C" panose="020B0706030303020204" pitchFamily="34" charset="0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1392876"/>
              </p:ext>
            </p:extLst>
          </p:nvPr>
        </p:nvGraphicFramePr>
        <p:xfrm>
          <a:off x="3368824" y="3590831"/>
          <a:ext cx="5688632" cy="27184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2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0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09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Description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1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#1</a:t>
                      </a:r>
                      <a:endParaRPr lang="en-US" altLang="ko-KR" sz="1100" b="0" i="0" u="none" strike="noStrike" kern="12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kern="12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40 00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zz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실내기 운전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On/Off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00 : Off,   01 : On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#2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40 01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kern="1200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  <a:cs typeface="+mn-cs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실내기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운전 모드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FF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00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자동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01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냉방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02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제습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03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송풍</a:t>
                      </a:r>
                      <a:r>
                        <a:rPr lang="en-US" altLang="ko-KR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,  04 : </a:t>
                      </a:r>
                      <a:r>
                        <a:rPr lang="ko-KR" altLang="en-US" sz="1100" b="0" i="0" u="none" strike="noStrike" kern="12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난방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#3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40 06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실내기 바람세기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자동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 01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미풍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02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약풍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 03 :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강풍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14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#4</a:t>
                      </a:r>
                      <a:endParaRPr lang="en-US" altLang="ko-KR" sz="1100" b="0" i="0" u="none" strike="noStrike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실내기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Swing On/Off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Off,   01 : On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#5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40 25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 typeface="Arial" pitchFamily="34" charset="0"/>
                        <a:buNone/>
                      </a:pP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cs typeface="+mn-cs"/>
                        </a:rPr>
                        <a:t>zz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실내기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필터 청소 알림 리셋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00 : Off,   01 : On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63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#6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42 01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zz </a:t>
                      </a:r>
                      <a:r>
                        <a:rPr lang="en-US" altLang="ko-KR" sz="1100" b="0" i="0" u="none" strike="noStrike" baseline="0" dirty="0" err="1" smtClean="0">
                          <a:solidFill>
                            <a:srgbClr val="000000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rgbClr val="00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실내기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온도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설정 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온도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*10)</a:t>
                      </a:r>
                    </a:p>
                    <a:p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냉방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(18~30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℃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1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도 단위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),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난방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(16~30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℃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, 1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도 단위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)</a:t>
                      </a: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예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) 24</a:t>
                      </a:r>
                      <a:r>
                        <a:rPr lang="ko-KR" altLang="en-US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℃ 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  <a:sym typeface="Wingdings" panose="05000000000000000000" pitchFamily="2" charset="2"/>
                        </a:rPr>
                        <a:t> 24*10  240  0x00F0 = 00 F0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직사각형 16"/>
          <p:cNvSpPr/>
          <p:nvPr/>
        </p:nvSpPr>
        <p:spPr>
          <a:xfrm>
            <a:off x="8766258" y="1700808"/>
            <a:ext cx="75533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083" b="0" dirty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584848" y="3025719"/>
            <a:ext cx="5040560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83" b="0" dirty="0" smtClean="0">
                <a:solidFill>
                  <a:schemeClr val="tx2"/>
                </a:solidFill>
                <a:latin typeface="바탕체" panose="02030609000101010101" pitchFamily="17" charset="-127"/>
                <a:ea typeface="바탕체" panose="02030609000101010101" pitchFamily="17" charset="-127"/>
              </a:rPr>
              <a:t>※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xx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실외기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00~0FH), </a:t>
            </a:r>
            <a:r>
              <a:rPr lang="en-US" altLang="ko-KR" sz="1083" b="0" dirty="0" err="1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yy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실내기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Physical </a:t>
            </a:r>
            <a:r>
              <a:rPr lang="ko-KR" altLang="en-US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주소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(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" panose="020B0703030303020204" pitchFamily="50" charset="-127"/>
                <a:ea typeface="SamsungOneKorean 600" panose="020B0703030303020204" pitchFamily="50" charset="-127"/>
              </a:rPr>
              <a:t>00~3FH)</a:t>
            </a:r>
            <a:endParaRPr lang="en-US" altLang="ko-KR" sz="1083" b="0" dirty="0">
              <a:solidFill>
                <a:schemeClr val="tx2"/>
              </a:solidFill>
              <a:latin typeface="SamsungOneKorean 600" panose="020B0703030303020204" pitchFamily="50" charset="-127"/>
              <a:ea typeface="SamsungOneKorean 600" panose="020B0703030303020204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2480" y="801974"/>
            <a:ext cx="41713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→ 에어컨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</a:t>
            </a:r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: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 제어 명령 전송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5996" y="1135777"/>
            <a:ext cx="883753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제어 명령은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개 또는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복수개를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전송할 수 있다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제어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Packet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대한 권장 </a:t>
            </a:r>
            <a:r>
              <a:rPr lang="ko-KR" altLang="en-US" sz="1300" dirty="0" err="1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응답대기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시간은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초이며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, 1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초 내 응답이 없을 경우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2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회 추가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retry 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진행한다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총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3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회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).</a:t>
            </a:r>
          </a:p>
          <a:p>
            <a:pPr>
              <a:lnSpc>
                <a:spcPts val="1800"/>
              </a:lnSpc>
            </a:pP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 3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회 시도에도 응답이 없을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경우 제어 </a:t>
            </a:r>
            <a:r>
              <a:rPr lang="en-US" altLang="ko-KR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Packet</a:t>
            </a:r>
            <a:r>
              <a:rPr lang="ko-KR" altLang="en-US" sz="13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은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버린다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(Retry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회수는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Programmer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가 결정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). </a:t>
            </a:r>
            <a:endParaRPr lang="en-US" altLang="ko-KR" sz="1300" dirty="0">
              <a:solidFill>
                <a:schemeClr val="tx2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8938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519884"/>
              </p:ext>
            </p:extLst>
          </p:nvPr>
        </p:nvGraphicFramePr>
        <p:xfrm>
          <a:off x="3372260" y="1196752"/>
          <a:ext cx="5685196" cy="12149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1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79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789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Index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Value</a:t>
                      </a:r>
                      <a:endParaRPr lang="ko-KR" altLang="en-US" sz="1100" b="1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설명</a:t>
                      </a:r>
                      <a:endParaRPr lang="en-US" altLang="ko-KR" sz="1100" b="1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40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#7</a:t>
                      </a:r>
                      <a:endParaRPr lang="en-US" altLang="ko-KR" sz="1100" b="0" i="0" u="none" strike="noStrike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04 09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r>
                        <a:rPr kumimoji="0" lang="en-US" altLang="ko-KR" sz="11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11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msungOneKorean 600" panose="020B0703030303020204" pitchFamily="50" charset="-127"/>
                          <a:ea typeface="SamsungOneKorean 600" panose="020B0703030303020204" pitchFamily="50" charset="-127"/>
                          <a:cs typeface="+mn-cs"/>
                        </a:rPr>
                        <a:t>zz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유선 리모컨 사용 제한 설정</a:t>
                      </a:r>
                      <a:endParaRPr lang="en-US" altLang="ko-KR" sz="1100" b="0" i="0" u="none" strike="noStrike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00 00 00 :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제한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00 6A 6A :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해제</a:t>
                      </a: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3058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 #8</a:t>
                      </a:r>
                      <a:endParaRPr lang="ko-KR" altLang="en-US" sz="1100" b="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40 50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 latinLnBrk="1">
                        <a:buFont typeface="Arial" pitchFamily="34" charset="0"/>
                        <a:buNone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zz</a:t>
                      </a:r>
                      <a:endParaRPr lang="ko-KR" altLang="en-US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실내기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버저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On/Off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설정</a:t>
                      </a:r>
                      <a:endParaRPr lang="en-US" altLang="ko-KR" sz="110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100" b="0" i="0" u="none" strike="noStrike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   00 : On,   01 : Off</a:t>
                      </a:r>
                      <a:endParaRPr lang="en-US" altLang="ko-KR" sz="1100" baseline="0" dirty="0" smtClean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10319" marR="10319" marT="10319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085774"/>
                  </a:ext>
                </a:extLst>
              </a:tr>
            </a:tbl>
          </a:graphicData>
        </a:graphic>
      </p:graphicFrame>
      <p:sp>
        <p:nvSpPr>
          <p:cNvPr id="11" name="직사각형 10"/>
          <p:cNvSpPr/>
          <p:nvPr/>
        </p:nvSpPr>
        <p:spPr>
          <a:xfrm>
            <a:off x="520188" y="2852936"/>
            <a:ext cx="902163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ex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) 32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11 6A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EE FF 20 01 00 C0 13 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4D 9F 34</a:t>
            </a:r>
            <a:endParaRPr lang="en-US" altLang="ko-KR" sz="1100" b="0" dirty="0" smtClean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endParaRPr lang="en-US" altLang="ko-KR" sz="1100" b="0" dirty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ex) 32 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2A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6A EE FF 20 01 00 C0 13 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08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00 01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01 01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06 03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11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01 40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27 00 42 01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B4 04 09 </a:t>
            </a:r>
          </a:p>
          <a:p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   00 00 00 00 40 50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00 </a:t>
            </a:r>
            <a:r>
              <a:rPr lang="en-US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58 20 </a:t>
            </a:r>
            <a:r>
              <a:rPr lang="en-US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맑은 고딕" panose="020B0503020000020004" pitchFamily="50" charset="-127"/>
                <a:cs typeface="Courier New" panose="02070309020205020404" pitchFamily="49" charset="0"/>
              </a:rPr>
              <a:t>34 </a:t>
            </a:r>
            <a:endParaRPr lang="es-ES" altLang="ko-KR" sz="1100" b="0" dirty="0">
              <a:solidFill>
                <a:schemeClr val="tx2"/>
              </a:solidFill>
              <a:latin typeface="Courier New" panose="02070309020205020404" pitchFamily="49" charset="0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784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84237" y="3356992"/>
            <a:ext cx="717679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altLang="ko-KR" sz="1100" b="0" dirty="0" smtClean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ex</a:t>
            </a:r>
            <a:r>
              <a:rPr lang="it-IT" altLang="ko-KR" sz="1100" b="0" dirty="0">
                <a:solidFill>
                  <a:schemeClr val="tx2"/>
                </a:solidFill>
                <a:latin typeface="Courier New" panose="02070309020205020404" pitchFamily="49" charset="0"/>
                <a:ea typeface="SamsungOneKorean 600" panose="020B0703030303020204" pitchFamily="50" charset="-127"/>
                <a:cs typeface="Courier New" panose="02070309020205020404" pitchFamily="49" charset="0"/>
              </a:rPr>
              <a:t>) 32 00 0E 20 01 00 6A EE FF C0 16 00 00 81 29 34 </a:t>
            </a:r>
            <a:endParaRPr lang="ko-KR" altLang="en-US" sz="1100" b="0" dirty="0">
              <a:solidFill>
                <a:schemeClr val="tx2"/>
              </a:solidFill>
              <a:latin typeface="Courier New" panose="02070309020205020404" pitchFamily="49" charset="0"/>
              <a:ea typeface="SamsungOneKorean 600" panose="020B0703030303020204" pitchFamily="50" charset="-127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2480" y="801974"/>
            <a:ext cx="3913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□ 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 실외기 → </a:t>
            </a:r>
            <a:r>
              <a:rPr lang="ko-KR" altLang="en-US" sz="160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외부제어기 개</a:t>
            </a:r>
            <a:r>
              <a:rPr lang="ko-KR" altLang="en-US" sz="16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별 제어 명령 응답</a:t>
            </a:r>
            <a:endParaRPr lang="ko-KR" altLang="en-US" sz="1600" dirty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8273611" y="1570820"/>
            <a:ext cx="755335" cy="2589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(HEX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포맷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)</a:t>
            </a:r>
            <a:endParaRPr lang="ko-KR" altLang="en-US" sz="1083" b="0" dirty="0"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85996" y="1135777"/>
            <a:ext cx="883753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∙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에어컨은 제어 명령에 대한 응답으로 메세지없이 응답한다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</a:p>
          <a:p>
            <a:pPr>
              <a:lnSpc>
                <a:spcPts val="1800"/>
              </a:lnSpc>
            </a:pP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 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전체 실내기 제어 시 응답의 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1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대 또는 일부의 </a:t>
            </a:r>
            <a:r>
              <a:rPr lang="ko-KR" altLang="en-US" sz="1300" dirty="0" err="1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실내기가</a:t>
            </a:r>
            <a:r>
              <a:rPr lang="ko-KR" altLang="en-US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응답한다</a:t>
            </a:r>
            <a:r>
              <a:rPr lang="en-US" altLang="ko-KR" sz="130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.</a:t>
            </a:r>
            <a:endParaRPr lang="en-US" altLang="ko-KR" sz="1300" dirty="0" smtClean="0">
              <a:solidFill>
                <a:srgbClr val="FF0000"/>
              </a:solidFill>
              <a:latin typeface="SamsungOneKorean 600C" panose="020B0706030303020204" pitchFamily="50" charset="-127"/>
              <a:ea typeface="SamsungOneKorean 600C" panose="020B0706030303020204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074426" y="2596070"/>
            <a:ext cx="5614878" cy="2975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 latinLnBrk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※ xx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실외기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Physical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00~0F),  yy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: </a:t>
            </a:r>
            <a:r>
              <a:rPr lang="ko-KR" altLang="en-US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실내기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 </a:t>
            </a:r>
            <a:r>
              <a:rPr lang="en-US" altLang="ko-KR" sz="1083" b="0" dirty="0" smtClean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Physical </a:t>
            </a:r>
            <a:r>
              <a:rPr lang="ko-KR" altLang="en-US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주소 </a:t>
            </a:r>
            <a:r>
              <a:rPr lang="en-US" altLang="ko-KR" sz="1083" b="0" dirty="0">
                <a:solidFill>
                  <a:schemeClr val="tx2"/>
                </a:solidFill>
                <a:latin typeface="SamsungOneKorean 600C" panose="020B0706030303020204" pitchFamily="50" charset="-127"/>
                <a:ea typeface="SamsungOneKorean 600C" panose="020B0706030303020204" pitchFamily="50" charset="-127"/>
              </a:rPr>
              <a:t>(00~3F)</a:t>
            </a:r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95590"/>
              </p:ext>
            </p:extLst>
          </p:nvPr>
        </p:nvGraphicFramePr>
        <p:xfrm>
          <a:off x="718627" y="1844824"/>
          <a:ext cx="8279989" cy="740982"/>
        </p:xfrm>
        <a:graphic>
          <a:graphicData uri="http://schemas.openxmlformats.org/drawingml/2006/table">
            <a:tbl>
              <a:tblPr/>
              <a:tblGrid>
                <a:gridCol w="5252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2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45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37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97231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50939"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Length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SA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DA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Command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NO of Message Sets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Message Set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CRC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ETX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43"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32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00 0E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20 xx</a:t>
                      </a:r>
                      <a:r>
                        <a:rPr lang="en-US" altLang="ko-KR" sz="1100" baseline="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 yy</a:t>
                      </a:r>
                      <a:endParaRPr lang="en-US" altLang="ko-KR" sz="1100" dirty="0" smtClean="0">
                        <a:solidFill>
                          <a:srgbClr val="FF0000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9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6A EE FF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C0 16 00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00</a:t>
                      </a:r>
                      <a:endParaRPr 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None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2 </a:t>
                      </a:r>
                      <a:r>
                        <a:rPr lang="ko-KR" alt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바이트</a:t>
                      </a:r>
                      <a:endParaRPr lang="ko-KR" altLang="en-US" sz="1100" dirty="0">
                        <a:solidFill>
                          <a:schemeClr val="tx2"/>
                        </a:solidFill>
                        <a:latin typeface="SamsungOneKorean 600C" panose="020B0706030303020204" pitchFamily="50" charset="-127"/>
                        <a:ea typeface="SamsungOneKorean 600C" panose="020B0706030303020204" pitchFamily="50" charset="-127"/>
                      </a:endParaRP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smtClean="0">
                          <a:solidFill>
                            <a:schemeClr val="tx2"/>
                          </a:solidFill>
                          <a:latin typeface="SamsungOneKorean 600C" panose="020B0706030303020204" pitchFamily="50" charset="-127"/>
                          <a:ea typeface="SamsungOneKorean 600C" panose="020B0706030303020204" pitchFamily="50" charset="-127"/>
                        </a:rPr>
                        <a:t>34</a:t>
                      </a:r>
                    </a:p>
                  </a:txBody>
                  <a:tcPr marL="28775" marR="28775" marT="28775" marB="28775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0094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0" y="0"/>
            <a:ext cx="9929617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>
            <a:noAutofit/>
          </a:bodyPr>
          <a:lstStyle/>
          <a:p>
            <a:pPr algn="ctr"/>
            <a:endParaRPr lang="ko-KR" altLang="en-US" sz="1000" dirty="0" smtClean="0">
              <a:solidFill>
                <a:schemeClr val="tx2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2780928"/>
            <a:ext cx="9906000" cy="1325563"/>
          </a:xfrm>
        </p:spPr>
        <p:txBody>
          <a:bodyPr/>
          <a:lstStyle/>
          <a:p>
            <a:r>
              <a:rPr lang="en-US" altLang="ko-KR" dirty="0" smtClean="0"/>
              <a:t>END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679080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s01_1">
  <a:themeElements>
    <a:clrScheme name="ms01_1 1">
      <a:dk1>
        <a:srgbClr val="1D528D"/>
      </a:dk1>
      <a:lt1>
        <a:srgbClr val="FFFFFF"/>
      </a:lt1>
      <a:dk2>
        <a:srgbClr val="000000"/>
      </a:dk2>
      <a:lt2>
        <a:srgbClr val="CACACA"/>
      </a:lt2>
      <a:accent1>
        <a:srgbClr val="0099CC"/>
      </a:accent1>
      <a:accent2>
        <a:srgbClr val="BFA907"/>
      </a:accent2>
      <a:accent3>
        <a:srgbClr val="FFFFFF"/>
      </a:accent3>
      <a:accent4>
        <a:srgbClr val="174578"/>
      </a:accent4>
      <a:accent5>
        <a:srgbClr val="AACAE2"/>
      </a:accent5>
      <a:accent6>
        <a:srgbClr val="AD9906"/>
      </a:accent6>
      <a:hlink>
        <a:srgbClr val="6E81E0"/>
      </a:hlink>
      <a:folHlink>
        <a:srgbClr val="009999"/>
      </a:folHlink>
    </a:clrScheme>
    <a:fontScheme name="ms01_1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2"/>
          </a:solidFill>
        </a:ln>
      </a:spPr>
      <a:bodyPr rtlCol="0" anchor="ctr">
        <a:noAutofit/>
      </a:bodyPr>
      <a:lstStyle>
        <a:defPPr algn="ctr">
          <a:defRPr sz="1000" dirty="0" smtClean="0">
            <a:solidFill>
              <a:schemeClr val="tx2"/>
            </a:solidFill>
            <a:latin typeface="맑은 고딕" pitchFamily="50" charset="-127"/>
            <a:ea typeface="맑은 고딕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dirty="0" smtClean="0">
            <a:solidFill>
              <a:schemeClr val="tx2"/>
            </a:solidFill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ms01_1 1">
        <a:dk1>
          <a:srgbClr val="1D528D"/>
        </a:dk1>
        <a:lt1>
          <a:srgbClr val="FFFFFF"/>
        </a:lt1>
        <a:dk2>
          <a:srgbClr val="000000"/>
        </a:dk2>
        <a:lt2>
          <a:srgbClr val="CACACA"/>
        </a:lt2>
        <a:accent1>
          <a:srgbClr val="0099CC"/>
        </a:accent1>
        <a:accent2>
          <a:srgbClr val="BFA907"/>
        </a:accent2>
        <a:accent3>
          <a:srgbClr val="FFFFFF"/>
        </a:accent3>
        <a:accent4>
          <a:srgbClr val="174578"/>
        </a:accent4>
        <a:accent5>
          <a:srgbClr val="AACAE2"/>
        </a:accent5>
        <a:accent6>
          <a:srgbClr val="AD9906"/>
        </a:accent6>
        <a:hlink>
          <a:srgbClr val="6E81E0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2">
        <a:dk1>
          <a:srgbClr val="4E40A4"/>
        </a:dk1>
        <a:lt1>
          <a:srgbClr val="FFFFFF"/>
        </a:lt1>
        <a:dk2>
          <a:srgbClr val="000000"/>
        </a:dk2>
        <a:lt2>
          <a:srgbClr val="CACACA"/>
        </a:lt2>
        <a:accent1>
          <a:srgbClr val="8B65E9"/>
        </a:accent1>
        <a:accent2>
          <a:srgbClr val="008080"/>
        </a:accent2>
        <a:accent3>
          <a:srgbClr val="FFFFFF"/>
        </a:accent3>
        <a:accent4>
          <a:srgbClr val="41358B"/>
        </a:accent4>
        <a:accent5>
          <a:srgbClr val="C4B8F2"/>
        </a:accent5>
        <a:accent6>
          <a:srgbClr val="007373"/>
        </a:accent6>
        <a:hlink>
          <a:srgbClr val="0066CC"/>
        </a:hlink>
        <a:folHlink>
          <a:srgbClr val="8AB15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01_1 3">
        <a:dk1>
          <a:srgbClr val="666699"/>
        </a:dk1>
        <a:lt1>
          <a:srgbClr val="FFFFFF"/>
        </a:lt1>
        <a:dk2>
          <a:srgbClr val="000000"/>
        </a:dk2>
        <a:lt2>
          <a:srgbClr val="CACACA"/>
        </a:lt2>
        <a:accent1>
          <a:srgbClr val="72B88E"/>
        </a:accent1>
        <a:accent2>
          <a:srgbClr val="C78DD7"/>
        </a:accent2>
        <a:accent3>
          <a:srgbClr val="FFFFFF"/>
        </a:accent3>
        <a:accent4>
          <a:srgbClr val="565682"/>
        </a:accent4>
        <a:accent5>
          <a:srgbClr val="BCD8C6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예제 프레젠테이션 슬라이드 [1]</Template>
  <TotalTime>69539</TotalTime>
  <Words>5244</Words>
  <Application>Microsoft Office PowerPoint</Application>
  <PresentationFormat>A4 용지(210x297mm)</PresentationFormat>
  <Paragraphs>965</Paragraphs>
  <Slides>34</Slides>
  <Notes>32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46" baseType="lpstr">
      <vt:lpstr>HY헤드라인M</vt:lpstr>
      <vt:lpstr>SamsungOneKorean 600</vt:lpstr>
      <vt:lpstr>SamsungOneKorean 600C</vt:lpstr>
      <vt:lpstr>굴림</vt:lpstr>
      <vt:lpstr>맑은 고딕</vt:lpstr>
      <vt:lpstr>바탕체</vt:lpstr>
      <vt:lpstr>Arial</vt:lpstr>
      <vt:lpstr>Courier New</vt:lpstr>
      <vt:lpstr>SamsungOneLatin 600C</vt:lpstr>
      <vt:lpstr>Times New Roman</vt:lpstr>
      <vt:lpstr>Wingdings</vt:lpstr>
      <vt:lpstr>ms01_1</vt:lpstr>
      <vt:lpstr>에어컨 실외기 NASA 프로토콜 (V1.1)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실내기 상태 모니터링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END</vt:lpstr>
    </vt:vector>
  </TitlesOfParts>
  <Company>에스원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note</dc:creator>
  <cp:lastModifiedBy>천일현/Air Solution영업2(생활가전)/삼성전자</cp:lastModifiedBy>
  <cp:revision>2218</cp:revision>
  <dcterms:created xsi:type="dcterms:W3CDTF">2003-03-06T07:22:06Z</dcterms:created>
  <dcterms:modified xsi:type="dcterms:W3CDTF">2026-08-03T22:22:18Z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